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2743200"/>
            <a:ext cx="1828800" cy="50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926080"/>
            <a:ext cx="9144000" cy="1371600"/>
          </a:xfrm>
          <a:prstGeom prst="rect">
            <a:avLst/>
          </a:prstGeom>
          <a:noFill/>
        </p:spPr>
        <p:txBody>
          <a:bodyPr wrap="square">
            <a:spAutoFit/>
          </a:bodyPr>
          <a:lstStyle/>
          <a:p>
            <a:pPr algn="l">
              <a:defRPr sz="3600" b="1">
                <a:solidFill>
                  <a:srgbClr val="FFFFFF"/>
                </a:solidFill>
                <a:latin typeface="Microsoft YaHei"/>
              </a:defRPr>
            </a:pPr>
            <a:r>
              <a:t>第07篇：压缩算法详解</a:t>
            </a:r>
          </a:p>
        </p:txBody>
      </p:sp>
      <p:sp>
        <p:nvSpPr>
          <p:cNvPr id="5" name="TextBox 4"/>
          <p:cNvSpPr txBox="1"/>
          <p:nvPr/>
        </p:nvSpPr>
        <p:spPr>
          <a:xfrm>
            <a:off x="1371600" y="4297680"/>
            <a:ext cx="9144000" cy="731520"/>
          </a:xfrm>
          <a:prstGeom prst="rect">
            <a:avLst/>
          </a:prstGeom>
          <a:noFill/>
        </p:spPr>
        <p:txBody>
          <a:bodyPr wrap="square">
            <a:spAutoFit/>
          </a:bodyPr>
          <a:lstStyle/>
          <a:p>
            <a:pPr algn="l">
              <a:defRPr sz="1800" b="0">
                <a:solidFill>
                  <a:srgbClr val="CCCCCC"/>
                </a:solidFill>
                <a:latin typeface="Microsoft YaHei"/>
              </a:defRPr>
            </a:pPr>
            <a:r>
              <a:t>Headroom 项目代码深度分析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640080"/>
          </a:xfrm>
          <a:prstGeom prst="rect">
            <a:avLst/>
          </a:prstGeom>
          <a:noFill/>
        </p:spPr>
        <p:txBody>
          <a:bodyPr wrap="square">
            <a:spAutoFit/>
          </a:bodyPr>
          <a:lstStyle/>
          <a:p>
            <a:pPr algn="l">
              <a:defRPr sz="2200" b="1">
                <a:solidFill>
                  <a:srgbClr val="FFFFFF"/>
                </a:solidFill>
                <a:latin typeface="Microsoft YaHei"/>
              </a:defRPr>
            </a:pPr>
            <a:r>
              <a:t>总——概述</a:t>
            </a:r>
          </a:p>
        </p:txBody>
      </p:sp>
      <p:sp>
        <p:nvSpPr>
          <p:cNvPr id="4" name="TextBox 3"/>
          <p:cNvSpPr txBox="1"/>
          <p:nvPr/>
        </p:nvSpPr>
        <p:spPr>
          <a:xfrm>
            <a:off x="731520" y="1188720"/>
            <a:ext cx="10728655" cy="5303520"/>
          </a:xfrm>
          <a:prstGeom prst="rect">
            <a:avLst/>
          </a:prstGeom>
          <a:noFill/>
        </p:spPr>
        <p:txBody>
          <a:bodyPr wrap="square">
            <a:spAutoFit/>
          </a:bodyPr>
          <a:lstStyle/>
          <a:p>
            <a:pPr algn="l">
              <a:spcBef>
                <a:spcPts val="0"/>
              </a:spcBef>
              <a:spcAft>
                <a:spcPts val="400"/>
              </a:spcAft>
              <a:defRPr sz="1300" b="0">
                <a:solidFill>
                  <a:srgbClr val="333333"/>
                </a:solidFill>
                <a:latin typeface="Microsoft YaHei"/>
              </a:defRPr>
            </a:pPr>
            <a:r>
              <a:t>Headroom 的压缩子系统是整个项目的核心引擎，负责将 LLM 上下文中冗余的工具输出、日志、搜索结果、代码等内容进行智能压缩，以释放宝贵的 token 空间。该子系统并非单一算法，而是一组针对不同内容类型精心设计的压缩器组合，通过 ContentRouter 进行智能路由，实现"对症下药"式的压缩策略选择。</a:t>
            </a:r>
          </a:p>
          <a:p>
            <a:pPr algn="l">
              <a:spcBef>
                <a:spcPts val="0"/>
              </a:spcBef>
              <a:spcAft>
                <a:spcPts val="400"/>
              </a:spcAft>
              <a:defRPr sz="1300" b="0">
                <a:solidFill>
                  <a:srgbClr val="333333"/>
                </a:solidFill>
                <a:latin typeface="Microsoft YaHei"/>
              </a:defRPr>
            </a:pPr>
            <a:r>
              <a:t>压缩子系统的设计哲学可以概括为三点：</a:t>
            </a:r>
          </a:p>
          <a:p>
            <a:pPr algn="l">
              <a:spcBef>
                <a:spcPts val="0"/>
              </a:spcBef>
              <a:spcAft>
                <a:spcPts val="300"/>
              </a:spcAft>
              <a:defRPr sz="1300" b="0">
                <a:solidFill>
                  <a:srgbClr val="333333"/>
                </a:solidFill>
                <a:latin typeface="Microsoft YaHei"/>
              </a:defRPr>
            </a:pPr>
            <a:r>
              <a:t>  内容感知：不同类型的内容使用不同的压缩策略，JSON 数组用 SmartCrusher，代码用 AST 解析，日志用结构化过滤</a:t>
            </a:r>
          </a:p>
          <a:p>
            <a:pPr algn="l">
              <a:spcBef>
                <a:spcPts val="0"/>
              </a:spcBef>
              <a:spcAft>
                <a:spcPts val="300"/>
              </a:spcAft>
              <a:defRPr sz="1300" b="0">
                <a:solidFill>
                  <a:srgbClr val="333333"/>
                </a:solidFill>
                <a:latin typeface="Microsoft YaHei"/>
              </a:defRPr>
            </a:pPr>
            <a:r>
              <a:t>  可逆压缩：通过 CCR（Compress-Cache-Retrieve）机制，被丢弃的内容可以在 LLM 需要时按需恢复</a:t>
            </a:r>
          </a:p>
          <a:p>
            <a:pPr algn="l">
              <a:spcBef>
                <a:spcPts val="0"/>
              </a:spcBef>
              <a:spcAft>
                <a:spcPts val="300"/>
              </a:spcAft>
              <a:defRPr sz="1300" b="0">
                <a:solidFill>
                  <a:srgbClr val="333333"/>
                </a:solidFill>
                <a:latin typeface="Microsoft YaHei"/>
              </a:defRPr>
            </a:pPr>
            <a:r>
              <a:t>  渐进降级：当首选压缩器无法产生有效压缩时，自动回退到下一个可用的压缩器</a:t>
            </a:r>
          </a:p>
          <a:p>
            <a:pPr algn="l">
              <a:spcBef>
                <a:spcPts val="0"/>
              </a:spcBef>
              <a:spcAft>
                <a:spcPts val="400"/>
              </a:spcAft>
              <a:defRPr sz="1300" b="0">
                <a:solidFill>
                  <a:srgbClr val="333333"/>
                </a:solidFill>
                <a:latin typeface="Microsoft YaHei"/>
              </a:defRPr>
            </a:pP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2926080"/>
            <a:ext cx="1371600" cy="381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200400"/>
            <a:ext cx="8229600" cy="1097280"/>
          </a:xfrm>
          <a:prstGeom prst="rect">
            <a:avLst/>
          </a:prstGeom>
          <a:noFill/>
        </p:spPr>
        <p:txBody>
          <a:bodyPr wrap="square">
            <a:spAutoFit/>
          </a:bodyPr>
          <a:lstStyle/>
          <a:p>
            <a:pPr algn="l">
              <a:defRPr sz="3200" b="1">
                <a:solidFill>
                  <a:srgbClr val="FFFFFF"/>
                </a:solidFill>
                <a:latin typeface="Microsoft YaHei"/>
              </a:defRPr>
            </a:pPr>
            <a:r>
              <a:t>分——各压缩器详解</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640080"/>
          </a:xfrm>
          <a:prstGeom prst="rect">
            <a:avLst/>
          </a:prstGeom>
          <a:noFill/>
        </p:spPr>
        <p:txBody>
          <a:bodyPr wrap="square">
            <a:spAutoFit/>
          </a:bodyPr>
          <a:lstStyle/>
          <a:p>
            <a:pPr algn="l">
              <a:defRPr sz="2200" b="1">
                <a:solidFill>
                  <a:srgbClr val="FFFFFF"/>
                </a:solidFill>
                <a:latin typeface="Microsoft YaHei"/>
              </a:defRPr>
            </a:pPr>
            <a:r>
              <a:t>SmartCrusher组件图</a:t>
            </a:r>
          </a:p>
        </p:txBody>
      </p:sp>
      <p:sp>
        <p:nvSpPr>
          <p:cNvPr id="4" name="Rectangle 3"/>
          <p:cNvSpPr/>
          <p:nvPr/>
        </p:nvSpPr>
        <p:spPr>
          <a:xfrm>
            <a:off x="457200" y="1097280"/>
            <a:ext cx="11277295" cy="5303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2743200" cy="365760"/>
          </a:xfrm>
          <a:prstGeom prst="rect">
            <a:avLst/>
          </a:prstGeom>
          <a:noFill/>
        </p:spPr>
        <p:txBody>
          <a:bodyPr wrap="square">
            <a:spAutoFit/>
          </a:bodyPr>
          <a:lstStyle/>
          <a:p>
            <a:pPr algn="l">
              <a:defRPr sz="1100" b="1">
                <a:solidFill>
                  <a:srgbClr val="1A5C8A"/>
                </a:solidFill>
                <a:latin typeface="Microsoft YaHei"/>
              </a:defRPr>
            </a:pPr>
            <a:r>
              <a:t>Mermaid 图表</a:t>
            </a:r>
          </a:p>
        </p:txBody>
      </p:sp>
      <p:sp>
        <p:nvSpPr>
          <p:cNvPr id="6" name="TextBox 5"/>
          <p:cNvSpPr txBox="1"/>
          <p:nvPr/>
        </p:nvSpPr>
        <p:spPr>
          <a:xfrm>
            <a:off x="731520" y="1645920"/>
            <a:ext cx="10728655" cy="4572000"/>
          </a:xfrm>
          <a:prstGeom prst="rect">
            <a:avLst/>
          </a:prstGeom>
          <a:noFill/>
        </p:spPr>
        <p:txBody>
          <a:bodyPr wrap="square">
            <a:spAutoFit/>
          </a:bodyPr>
          <a:lstStyle/>
          <a:p>
            <a:pPr>
              <a:spcBef>
                <a:spcPts val="0"/>
              </a:spcBef>
              <a:spcAft>
                <a:spcPts val="100"/>
              </a:spcAft>
              <a:defRPr sz="1000">
                <a:solidFill>
                  <a:srgbClr val="1A5C8A"/>
                </a:solidFill>
                <a:latin typeface="Consolas"/>
              </a:defRPr>
            </a:pPr>
            <a:r>
              <a:t>flowchart LR</a:t>
            </a:r>
          </a:p>
          <a:p>
            <a:pPr>
              <a:spcBef>
                <a:spcPts val="0"/>
              </a:spcBef>
              <a:spcAft>
                <a:spcPts val="100"/>
              </a:spcAft>
              <a:defRPr sz="1000">
                <a:solidFill>
                  <a:srgbClr val="1A5C8A"/>
                </a:solidFill>
                <a:latin typeface="Consolas"/>
              </a:defRPr>
            </a:pPr>
            <a:r>
              <a:t>    subgraph SmartCrusher组件图</a:t>
            </a:r>
          </a:p>
          <a:p>
            <a:pPr>
              <a:spcBef>
                <a:spcPts val="0"/>
              </a:spcBef>
              <a:spcAft>
                <a:spcPts val="100"/>
              </a:spcAft>
              <a:defRPr sz="1000">
                <a:solidFill>
                  <a:srgbClr val="1A5C8A"/>
                </a:solidFill>
                <a:latin typeface="Consolas"/>
              </a:defRPr>
            </a:pPr>
            <a:r>
              <a:t>        A[输入JSON数组] --&gt; B[统计分析器]</a:t>
            </a:r>
          </a:p>
          <a:p>
            <a:pPr>
              <a:spcBef>
                <a:spcPts val="0"/>
              </a:spcBef>
              <a:spcAft>
                <a:spcPts val="100"/>
              </a:spcAft>
              <a:defRPr sz="1000">
                <a:solidFill>
                  <a:srgbClr val="1A5C8A"/>
                </a:solidFill>
                <a:latin typeface="Consolas"/>
              </a:defRPr>
            </a:pPr>
            <a:r>
              <a:t>        B --&gt; C[锚点选择器]</a:t>
            </a:r>
          </a:p>
          <a:p>
            <a:pPr>
              <a:spcBef>
                <a:spcPts val="0"/>
              </a:spcBef>
              <a:spcAft>
                <a:spcPts val="100"/>
              </a:spcAft>
              <a:defRPr sz="1000">
                <a:solidFill>
                  <a:srgbClr val="1A5C8A"/>
                </a:solidFill>
                <a:latin typeface="Consolas"/>
              </a:defRPr>
            </a:pPr>
            <a:r>
              <a:t>        C --&gt; D[行级压缩]</a:t>
            </a:r>
          </a:p>
          <a:p>
            <a:pPr>
              <a:spcBef>
                <a:spcPts val="0"/>
              </a:spcBef>
              <a:spcAft>
                <a:spcPts val="100"/>
              </a:spcAft>
              <a:defRPr sz="1000">
                <a:solidFill>
                  <a:srgbClr val="1A5C8A"/>
                </a:solidFill>
                <a:latin typeface="Consolas"/>
              </a:defRPr>
            </a:pPr>
            <a:r>
              <a:t>        D --&gt; E{压缩有效?}</a:t>
            </a:r>
          </a:p>
          <a:p>
            <a:pPr>
              <a:spcBef>
                <a:spcPts val="0"/>
              </a:spcBef>
              <a:spcAft>
                <a:spcPts val="100"/>
              </a:spcAft>
              <a:defRPr sz="1000">
                <a:solidFill>
                  <a:srgbClr val="1A5C8A"/>
                </a:solidFill>
                <a:latin typeface="Consolas"/>
              </a:defRPr>
            </a:pPr>
            <a:r>
              <a:t>        E --&gt;|是| F[CCR标记注入]</a:t>
            </a:r>
          </a:p>
          <a:p>
            <a:pPr>
              <a:spcBef>
                <a:spcPts val="0"/>
              </a:spcBef>
              <a:spcAft>
                <a:spcPts val="100"/>
              </a:spcAft>
              <a:defRPr sz="1000">
                <a:solidFill>
                  <a:srgbClr val="1A5C8A"/>
                </a:solidFill>
                <a:latin typeface="Consolas"/>
              </a:defRPr>
            </a:pPr>
            <a:r>
              <a:t>        E --&gt;|否| G[尝试无损Compaction]</a:t>
            </a:r>
          </a:p>
          <a:p>
            <a:pPr>
              <a:spcBef>
                <a:spcPts val="0"/>
              </a:spcBef>
              <a:spcAft>
                <a:spcPts val="100"/>
              </a:spcAft>
              <a:defRPr sz="1000">
                <a:solidFill>
                  <a:srgbClr val="1A5C8A"/>
                </a:solidFill>
                <a:latin typeface="Consolas"/>
              </a:defRPr>
            </a:pPr>
            <a:r>
              <a:t>        G --&gt; H{Compaction有效?}</a:t>
            </a:r>
          </a:p>
          <a:p>
            <a:pPr>
              <a:spcBef>
                <a:spcPts val="0"/>
              </a:spcBef>
              <a:spcAft>
                <a:spcPts val="100"/>
              </a:spcAft>
              <a:defRPr sz="1000">
                <a:solidFill>
                  <a:srgbClr val="1A5C8A"/>
                </a:solidFill>
                <a:latin typeface="Consolas"/>
              </a:defRPr>
            </a:pPr>
            <a:r>
              <a:t>        H --&gt;|是| I[表格/桶格式化]</a:t>
            </a:r>
          </a:p>
          <a:p>
            <a:pPr>
              <a:spcBef>
                <a:spcPts val="0"/>
              </a:spcBef>
              <a:spcAft>
                <a:spcPts val="100"/>
              </a:spcAft>
              <a:defRPr sz="1000">
                <a:solidFill>
                  <a:srgbClr val="1A5C8A"/>
                </a:solidFill>
                <a:latin typeface="Consolas"/>
              </a:defRPr>
            </a:pPr>
            <a:r>
              <a:t>        H --&gt;|否| J[passthrough]</a:t>
            </a:r>
          </a:p>
          <a:p>
            <a:pPr>
              <a:spcBef>
                <a:spcPts val="0"/>
              </a:spcBef>
              <a:spcAft>
                <a:spcPts val="100"/>
              </a:spcAft>
              <a:defRPr sz="1000">
                <a:solidFill>
                  <a:srgbClr val="1A5C8A"/>
                </a:solidFill>
                <a:latin typeface="Consolas"/>
              </a:defRPr>
            </a:pPr>
            <a:r>
              <a:t>        F --&gt; K[输出结果]</a:t>
            </a:r>
          </a:p>
          <a:p>
            <a:pPr>
              <a:spcBef>
                <a:spcPts val="0"/>
              </a:spcBef>
              <a:spcAft>
                <a:spcPts val="100"/>
              </a:spcAft>
              <a:defRPr sz="1000">
                <a:solidFill>
                  <a:srgbClr val="1A5C8A"/>
                </a:solidFill>
                <a:latin typeface="Consolas"/>
              </a:defRPr>
            </a:pPr>
            <a:r>
              <a:t>        I --&gt; K</a:t>
            </a:r>
          </a:p>
          <a:p>
            <a:pPr>
              <a:spcBef>
                <a:spcPts val="0"/>
              </a:spcBef>
              <a:spcAft>
                <a:spcPts val="100"/>
              </a:spcAft>
              <a:defRPr sz="1000">
                <a:solidFill>
                  <a:srgbClr val="1A5C8A"/>
                </a:solidFill>
                <a:latin typeface="Consolas"/>
              </a:defRPr>
            </a:pPr>
            <a:r>
              <a:t>        J --&gt; K</a:t>
            </a:r>
          </a:p>
          <a:p>
            <a:pPr>
              <a:spcBef>
                <a:spcPts val="0"/>
              </a:spcBef>
              <a:spcAft>
                <a:spcPts val="100"/>
              </a:spcAft>
              <a:defRPr sz="1000">
                <a:solidFill>
                  <a:srgbClr val="1A5C8A"/>
                </a:solidFill>
                <a:latin typeface="Consolas"/>
              </a:defRPr>
            </a:pPr>
            <a:r>
              <a:t>    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640080"/>
          </a:xfrm>
          <a:prstGeom prst="rect">
            <a:avLst/>
          </a:prstGeom>
          <a:noFill/>
        </p:spPr>
        <p:txBody>
          <a:bodyPr wrap="square">
            <a:spAutoFit/>
          </a:bodyPr>
          <a:lstStyle/>
          <a:p>
            <a:pPr algn="l">
              <a:defRPr sz="2200" b="1">
                <a:solidFill>
                  <a:srgbClr val="FFFFFF"/>
                </a:solidFill>
                <a:latin typeface="Microsoft YaHei"/>
              </a:defRPr>
            </a:pPr>
            <a:r>
              <a:t>一、SmartCrusher：JSON 数组压缩器</a:t>
            </a:r>
          </a:p>
        </p:txBody>
      </p:sp>
      <p:sp>
        <p:nvSpPr>
          <p:cNvPr id="4" name="TextBox 3"/>
          <p:cNvSpPr txBox="1"/>
          <p:nvPr/>
        </p:nvSpPr>
        <p:spPr>
          <a:xfrm>
            <a:off x="731520" y="1188720"/>
            <a:ext cx="10728655" cy="5303520"/>
          </a:xfrm>
          <a:prstGeom prst="rect">
            <a:avLst/>
          </a:prstGeom>
          <a:noFill/>
        </p:spPr>
        <p:txBody>
          <a:bodyPr wrap="square">
            <a:spAutoFit/>
          </a:bodyPr>
          <a:lstStyle/>
          <a:p>
            <a:pPr algn="l">
              <a:spcBef>
                <a:spcPts val="0"/>
              </a:spcBef>
              <a:spcAft>
                <a:spcPts val="400"/>
              </a:spcAft>
              <a:defRPr sz="1300" b="0">
                <a:solidFill>
                  <a:srgbClr val="333333"/>
                </a:solidFill>
                <a:latin typeface="Microsoft YaHei"/>
              </a:defRPr>
            </a:pPr>
            <a:r>
              <a:t>smart_crusher.py 是 Headroom 中使用频率最高的压缩器，专门处理 JSON 数组格式的工具输出。该模块已在 Stage 3c.1b 完全迁移至 Rust 实现（通过 PyO3 桥接），Python 端仅保留数据类定义和调用接口。</a:t>
            </a:r>
          </a:p>
          <a:p>
            <a:pPr algn="l">
              <a:spcBef>
                <a:spcPts val="0"/>
              </a:spcBef>
              <a:spcAft>
                <a:spcPts val="400"/>
              </a:spcAft>
              <a:defRPr sz="1300" b="0">
                <a:solidFill>
                  <a:srgbClr val="333333"/>
                </a:solidFill>
                <a:latin typeface="Microsoft YaHei"/>
              </a:defRPr>
            </a:pPr>
            <a:r>
              <a:t>核心压缩流程：</a:t>
            </a:r>
          </a:p>
          <a:p>
            <a:pPr algn="l">
              <a:spcBef>
                <a:spcPts val="0"/>
              </a:spcBef>
              <a:spcAft>
                <a:spcPts val="300"/>
              </a:spcAft>
              <a:defRPr sz="1300" b="0">
                <a:solidFill>
                  <a:srgbClr val="333333"/>
                </a:solidFill>
                <a:latin typeface="Microsoft YaHei"/>
              </a:defRPr>
            </a:pPr>
            <a:r>
              <a:t>  输入验证：检查是否为 JSON 数组，元素数量是否达到 min_items_to_analyze（默认5）</a:t>
            </a:r>
          </a:p>
          <a:p>
            <a:pPr algn="l">
              <a:spcBef>
                <a:spcPts val="0"/>
              </a:spcBef>
              <a:spcAft>
                <a:spcPts val="300"/>
              </a:spcAft>
              <a:defRPr sz="1300" b="0">
                <a:solidFill>
                  <a:srgbClr val="333333"/>
                </a:solidFill>
                <a:latin typeface="Microsoft YaHei"/>
              </a:defRPr>
            </a:pPr>
            <a:r>
              <a:t>  统计分析：计算字段的方差、唯一性、相似度等统计指标</a:t>
            </a:r>
          </a:p>
          <a:p>
            <a:pPr algn="l">
              <a:spcBef>
                <a:spcPts val="0"/>
              </a:spcBef>
              <a:spcAft>
                <a:spcPts val="300"/>
              </a:spcAft>
              <a:defRPr sz="1300" b="0">
                <a:solidFill>
                  <a:srgbClr val="333333"/>
                </a:solidFill>
                <a:latin typeface="Microsoft YaHei"/>
              </a:defRPr>
            </a:pPr>
            <a:r>
              <a:t>  锚点选择：基于 AnchorSelector 动态分配首部/尾部/中间锚点位置</a:t>
            </a:r>
          </a:p>
          <a:p>
            <a:pPr algn="l">
              <a:spcBef>
                <a:spcPts val="0"/>
              </a:spcBef>
              <a:spcAft>
                <a:spcPts val="300"/>
              </a:spcAft>
              <a:defRPr sz="1300" b="0">
                <a:solidFill>
                  <a:srgbClr val="333333"/>
                </a:solidFill>
                <a:latin typeface="Microsoft YaHei"/>
              </a:defRPr>
            </a:pPr>
            <a:r>
              <a:t>  行级压缩：保留锚点行，丢弃冗余行，生成 CCR 卸载标记</a:t>
            </a:r>
          </a:p>
          <a:p>
            <a:pPr algn="l">
              <a:spcBef>
                <a:spcPts val="0"/>
              </a:spcBef>
              <a:spcAft>
                <a:spcPts val="300"/>
              </a:spcAft>
              <a:defRPr sz="1300" b="0">
                <a:solidFill>
                  <a:srgbClr val="333333"/>
                </a:solidFill>
                <a:latin typeface="Microsoft YaHei"/>
              </a:defRPr>
            </a:pPr>
            <a:r>
              <a:t>  无损路径（PR4新增）：尝试通过 DocumentCompactor 进行表格/桶/CCR 格式化</a:t>
            </a:r>
          </a:p>
          <a:p>
            <a:pPr algn="l">
              <a:spcBef>
                <a:spcPts val="0"/>
              </a:spcBef>
              <a:spcAft>
                <a:spcPts val="400"/>
              </a:spcAft>
              <a:defRPr sz="1300" b="0">
                <a:solidFill>
                  <a:srgbClr val="333333"/>
                </a:solidFill>
                <a:latin typeface="Microsoft YaHei"/>
              </a:defRPr>
            </a:pPr>
            <a:r>
              <a:t>关键代码片段——CCR 哨兵标记机制：</a:t>
            </a:r>
          </a:p>
          <a:p>
            <a:pPr algn="l">
              <a:spcBef>
                <a:spcPts val="600"/>
              </a:spcBef>
              <a:spcAft>
                <a:spcPts val="200"/>
              </a:spcAft>
              <a:defRPr sz="1000" b="1">
                <a:solidFill>
                  <a:srgbClr val="2E86C1"/>
                </a:solidFill>
                <a:latin typeface="Microsoft YaHei"/>
              </a:defRPr>
            </a:pPr>
            <a:r>
              <a:t>代码 [python]:</a:t>
            </a:r>
          </a:p>
          <a:p>
            <a:pPr algn="l">
              <a:spcBef>
                <a:spcPts val="0"/>
              </a:spcBef>
              <a:spcAft>
                <a:spcPts val="400"/>
              </a:spcAft>
              <a:defRPr sz="900" b="0">
                <a:solidFill>
                  <a:srgbClr val="2C3E50"/>
                </a:solidFill>
                <a:latin typeface="Consolas"/>
              </a:defRPr>
            </a:pPr>
            <a:r>
              <a:t># smart_crusher.py 中的 CCR 哨兵</a:t>
            </a:r>
            <a:br/>
            <a:r>
              <a:t>CCR_SENTINEL_KEY = "_ccr_dropped"</a:t>
            </a:r>
            <a:br/>
            <a:br/>
            <a:r>
              <a:t>def is_ccr_sentinel(item: Any) -&gt; bool:</a:t>
            </a:r>
            <a:br/>
            <a:r>
              <a:t>    """True if `item` is a CCR-dropped sentinel object."""</a:t>
            </a:r>
            <a:br/>
            <a:r>
              <a:t>    return isinstance(item, dict) and CCR_SENTINEL_KEY in item</a:t>
            </a:r>
          </a:p>
          <a:p>
            <a:pPr algn="l">
              <a:spcBef>
                <a:spcPts val="0"/>
              </a:spcBef>
              <a:spcAft>
                <a:spcPts val="400"/>
              </a:spcAft>
              <a:defRPr sz="1300" b="0">
                <a:solidFill>
                  <a:srgbClr val="333333"/>
                </a:solidFill>
                <a:latin typeface="Microsoft YaHei"/>
              </a:defRPr>
            </a:pPr>
            <a:r>
              <a:t>当 SmartCrusher 丢弃行时，会在保留的数组中插入 {"_ccr_dropped": "&gt;"} 哨兵对象，LLM 看到此标记后可通过 CCR 检索工具获取原始数据。</a:t>
            </a:r>
          </a:p>
          <a:p>
            <a:pPr algn="l">
              <a:spcBef>
                <a:spcPts val="0"/>
              </a:spcBef>
              <a:spcAft>
                <a:spcPts val="400"/>
              </a:spcAft>
              <a:defRPr sz="1300" b="0">
                <a:solidFill>
                  <a:srgbClr val="333333"/>
                </a:solidFill>
                <a:latin typeface="Microsoft YaHei"/>
              </a:defRPr>
            </a:pPr>
            <a:r>
              <a:t>配置参数（SmartCrusherConfig）：</a:t>
            </a:r>
          </a:p>
          <a:p>
            <a:pPr algn="l">
              <a:spcBef>
                <a:spcPts val="600"/>
              </a:spcBef>
              <a:spcAft>
                <a:spcPts val="200"/>
              </a:spcAft>
              <a:defRPr sz="1100" b="1">
                <a:solidFill>
                  <a:srgbClr val="2E86C1"/>
                </a:solidFill>
                <a:latin typeface="Microsoft YaHei"/>
              </a:defRPr>
            </a:pPr>
            <a:r>
              <a:t>表格: 参数 | 默认值 | 说明</a:t>
            </a:r>
          </a:p>
          <a:p>
            <a:pPr algn="l">
              <a:spcBef>
                <a:spcPts val="0"/>
              </a:spcBef>
              <a:spcAft>
                <a:spcPts val="100"/>
              </a:spcAft>
              <a:defRPr sz="1000" b="0">
                <a:solidFill>
                  <a:srgbClr val="333333"/>
                </a:solidFill>
                <a:latin typeface="Microsoft YaHei"/>
              </a:defRPr>
            </a:pPr>
            <a:r>
              <a:t>  min_items_to_analyze | 5 | 最小分析元素数</a:t>
            </a:r>
          </a:p>
          <a:p>
            <a:pPr algn="l">
              <a:spcBef>
                <a:spcPts val="0"/>
              </a:spcBef>
              <a:spcAft>
                <a:spcPts val="100"/>
              </a:spcAft>
              <a:defRPr sz="1000" b="0">
                <a:solidFill>
                  <a:srgbClr val="333333"/>
                </a:solidFill>
                <a:latin typeface="Microsoft YaHei"/>
              </a:defRPr>
            </a:pPr>
            <a:r>
              <a:t>  min_tokens_to_crush | 200 | 最小 token 数才触发压缩</a:t>
            </a:r>
          </a:p>
          <a:p>
            <a:pPr algn="l">
              <a:spcBef>
                <a:spcPts val="0"/>
              </a:spcBef>
              <a:spcAft>
                <a:spcPts val="100"/>
              </a:spcAft>
              <a:defRPr sz="1000" b="0">
                <a:solidFill>
                  <a:srgbClr val="333333"/>
                </a:solidFill>
                <a:latin typeface="Microsoft YaHei"/>
              </a:defRPr>
            </a:pPr>
            <a:r>
              <a:t>  variance_threshold | 2.0 | 方差阈值，低于此值认为字段值相似</a:t>
            </a:r>
          </a:p>
          <a:p>
            <a:pPr algn="l">
              <a:spcBef>
                <a:spcPts val="0"/>
              </a:spcBef>
              <a:spcAft>
                <a:spcPts val="100"/>
              </a:spcAft>
              <a:defRPr sz="1000" b="0">
                <a:solidFill>
                  <a:srgbClr val="333333"/>
                </a:solidFill>
                <a:latin typeface="Microsoft YaHei"/>
              </a:defRPr>
            </a:pPr>
            <a:r>
              <a:t>  max_items_after_crush | 15 | 压缩后最大保留项数</a:t>
            </a:r>
          </a:p>
          <a:p>
            <a:pPr algn="l">
              <a:spcBef>
                <a:spcPts val="0"/>
              </a:spcBef>
              <a:spcAft>
                <a:spcPts val="100"/>
              </a:spcAft>
              <a:defRPr sz="1000" b="0">
                <a:solidFill>
                  <a:srgbClr val="333333"/>
                </a:solidFill>
                <a:latin typeface="Microsoft YaHei"/>
              </a:defRPr>
            </a:pPr>
            <a:r>
              <a:t>  first_fraction | 0.3 | 首部锚点比例</a:t>
            </a:r>
          </a:p>
          <a:p>
            <a:pPr algn="l">
              <a:spcBef>
                <a:spcPts val="0"/>
              </a:spcBef>
              <a:spcAft>
                <a:spcPts val="200"/>
              </a:spcAft>
              <a:defRPr sz="1000" b="0">
                <a:solidFill>
                  <a:srgbClr val="CCCCCC"/>
                </a:solidFill>
                <a:latin typeface="Microsoft YaHei"/>
              </a:defRPr>
            </a:pPr>
            <a:r>
              <a:t>  ... 共 7 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640080"/>
          </a:xfrm>
          <a:prstGeom prst="rect">
            <a:avLst/>
          </a:prstGeom>
          <a:noFill/>
        </p:spPr>
        <p:txBody>
          <a:bodyPr wrap="square">
            <a:spAutoFit/>
          </a:bodyPr>
          <a:lstStyle/>
          <a:p>
            <a:pPr algn="l">
              <a:defRPr sz="2200" b="1">
                <a:solidFill>
                  <a:srgbClr val="FFFFFF"/>
                </a:solidFill>
                <a:latin typeface="Microsoft YaHei"/>
              </a:defRPr>
            </a:pPr>
            <a:r>
              <a:t>二、CodeCompressor：AST 感知代码压缩器</a:t>
            </a:r>
          </a:p>
        </p:txBody>
      </p:sp>
      <p:sp>
        <p:nvSpPr>
          <p:cNvPr id="4" name="TextBox 3"/>
          <p:cNvSpPr txBox="1"/>
          <p:nvPr/>
        </p:nvSpPr>
        <p:spPr>
          <a:xfrm>
            <a:off x="731520" y="1188720"/>
            <a:ext cx="10728655" cy="5303520"/>
          </a:xfrm>
          <a:prstGeom prst="rect">
            <a:avLst/>
          </a:prstGeom>
          <a:noFill/>
        </p:spPr>
        <p:txBody>
          <a:bodyPr wrap="square">
            <a:spAutoFit/>
          </a:bodyPr>
          <a:lstStyle/>
          <a:p>
            <a:pPr algn="l">
              <a:spcBef>
                <a:spcPts val="0"/>
              </a:spcBef>
              <a:spcAft>
                <a:spcPts val="400"/>
              </a:spcAft>
              <a:defRPr sz="1300" b="0">
                <a:solidFill>
                  <a:srgbClr val="333333"/>
                </a:solidFill>
                <a:latin typeface="Microsoft YaHei"/>
              </a:defRPr>
            </a:pPr>
            <a:r>
              <a:t>code_compressor.py 基于 tree-sitter AST 解析实现语法安全的代码压缩。与 token 级压缩不同，它保证输出始终是语法有效的代码。</a:t>
            </a:r>
          </a:p>
          <a:p>
            <a:pPr algn="l">
              <a:spcBef>
                <a:spcPts val="0"/>
              </a:spcBef>
              <a:spcAft>
                <a:spcPts val="400"/>
              </a:spcAft>
              <a:defRPr sz="1300" b="0">
                <a:solidFill>
                  <a:srgbClr val="333333"/>
                </a:solidFill>
                <a:latin typeface="Microsoft YaHei"/>
              </a:defRPr>
            </a:pPr>
            <a:r>
              <a:t>压缩策略：</a:t>
            </a:r>
          </a:p>
          <a:p>
            <a:pPr algn="l">
              <a:spcBef>
                <a:spcPts val="0"/>
              </a:spcBef>
              <a:spcAft>
                <a:spcPts val="300"/>
              </a:spcAft>
              <a:defRPr sz="1300" b="0">
                <a:solidFill>
                  <a:srgbClr val="333333"/>
                </a:solidFill>
                <a:latin typeface="Microsoft YaHei"/>
              </a:defRPr>
            </a:pPr>
            <a:r>
              <a:t>  AST 解析：使用 tree-sitter 将代码解析为语法树</a:t>
            </a:r>
          </a:p>
          <a:p>
            <a:pPr algn="l">
              <a:spcBef>
                <a:spcPts val="0"/>
              </a:spcBef>
              <a:spcAft>
                <a:spcPts val="300"/>
              </a:spcAft>
              <a:defRPr sz="1300" b="0">
                <a:solidFill>
                  <a:srgbClr val="333333"/>
                </a:solidFill>
                <a:latin typeface="Microsoft YaHei"/>
              </a:defRPr>
            </a:pPr>
            <a:r>
              <a:t>  结构提取：保留 imports、类/函数签名、类型注解、错误处理</a:t>
            </a:r>
          </a:p>
          <a:p>
            <a:pPr algn="l">
              <a:spcBef>
                <a:spcPts val="0"/>
              </a:spcBef>
              <a:spcAft>
                <a:spcPts val="300"/>
              </a:spcAft>
              <a:defRPr sz="1300" b="0">
                <a:solidFill>
                  <a:srgbClr val="333333"/>
                </a:solidFill>
                <a:latin typeface="Microsoft YaHei"/>
              </a:defRPr>
            </a:pPr>
            <a:r>
              <a:t>  重要性排序：通过语义分析对函数进行重要性排序</a:t>
            </a:r>
          </a:p>
          <a:p>
            <a:pPr algn="l">
              <a:spcBef>
                <a:spcPts val="0"/>
              </a:spcBef>
              <a:spcAft>
                <a:spcPts val="300"/>
              </a:spcAft>
              <a:defRPr sz="1300" b="0">
                <a:solidFill>
                  <a:srgbClr val="333333"/>
                </a:solidFill>
                <a:latin typeface="Microsoft YaHei"/>
              </a:defRPr>
            </a:pPr>
            <a:r>
              <a:t>  函数体压缩：保留签名，压缩函数体</a:t>
            </a:r>
          </a:p>
          <a:p>
            <a:pPr algn="l">
              <a:spcBef>
                <a:spcPts val="0"/>
              </a:spcBef>
              <a:spcAft>
                <a:spcPts val="300"/>
              </a:spcAft>
              <a:defRPr sz="1300" b="0">
                <a:solidFill>
                  <a:srgbClr val="333333"/>
                </a:solidFill>
                <a:latin typeface="Microsoft YaHei"/>
              </a:defRPr>
            </a:pPr>
            <a:r>
              <a:t>  语法重组：重新组装为有效代码</a:t>
            </a:r>
          </a:p>
          <a:p>
            <a:pPr algn="l">
              <a:spcBef>
                <a:spcPts val="0"/>
              </a:spcBef>
              <a:spcAft>
                <a:spcPts val="400"/>
              </a:spcAft>
              <a:defRPr sz="1300" b="0">
                <a:solidFill>
                  <a:srgbClr val="333333"/>
                </a:solidFill>
                <a:latin typeface="Microsoft YaHei"/>
              </a:defRPr>
            </a:pPr>
            <a:r>
              <a:t>支持的语言分为两个层级：</a:t>
            </a:r>
          </a:p>
          <a:p>
            <a:pPr algn="l">
              <a:spcBef>
                <a:spcPts val="0"/>
              </a:spcBef>
              <a:spcAft>
                <a:spcPts val="300"/>
              </a:spcAft>
              <a:defRPr sz="1300" b="0">
                <a:solidFill>
                  <a:srgbClr val="333333"/>
                </a:solidFill>
                <a:latin typeface="Microsoft YaHei"/>
              </a:defRPr>
            </a:pPr>
            <a:r>
              <a:t>• Tier 1（完整支持）：Python、JavaScript、TypeScript</a:t>
            </a:r>
          </a:p>
          <a:p>
            <a:pPr algn="l">
              <a:spcBef>
                <a:spcPts val="0"/>
              </a:spcBef>
              <a:spcAft>
                <a:spcPts val="300"/>
              </a:spcAft>
              <a:defRPr sz="1300" b="0">
                <a:solidFill>
                  <a:srgbClr val="333333"/>
                </a:solidFill>
                <a:latin typeface="Microsoft YaHei"/>
              </a:defRPr>
            </a:pPr>
            <a:r>
              <a:t>• Tier 2（基础支持）：Go、Rust、Java、C、C++</a:t>
            </a:r>
          </a:p>
          <a:p>
            <a:pPr algn="l">
              <a:spcBef>
                <a:spcPts val="600"/>
              </a:spcBef>
              <a:spcAft>
                <a:spcPts val="200"/>
              </a:spcAft>
              <a:defRPr sz="1000" b="1">
                <a:solidFill>
                  <a:srgbClr val="2E86C1"/>
                </a:solidFill>
                <a:latin typeface="Microsoft YaHei"/>
              </a:defRPr>
            </a:pPr>
            <a:r>
              <a:t>代码 [python]:</a:t>
            </a:r>
          </a:p>
          <a:p>
            <a:pPr algn="l">
              <a:spcBef>
                <a:spcPts val="0"/>
              </a:spcBef>
              <a:spcAft>
                <a:spcPts val="400"/>
              </a:spcAft>
              <a:defRPr sz="900" b="0">
                <a:solidFill>
                  <a:srgbClr val="2C3E50"/>
                </a:solidFill>
                <a:latin typeface="Consolas"/>
              </a:defRPr>
            </a:pPr>
            <a:r>
              <a:t># code_compressor.py 中的 tree-sitter 可用性检查</a:t>
            </a:r>
            <a:br/>
            <a:r>
              <a:t>def _check_tree_sitter_available() -&gt; bool:</a:t>
            </a:r>
            <a:br/>
            <a:r>
              <a:t>    global _tree_sitter_available</a:t>
            </a:r>
            <a:br/>
            <a:r>
              <a:t>    if _tree_sitter_available is None:</a:t>
            </a:r>
            <a:br/>
            <a:r>
              <a:t>        try:</a:t>
            </a:r>
            <a:br/>
            <a:r>
              <a:t>            import tree_sitter_language_pack</a:t>
            </a:r>
            <a:br/>
            <a:r>
              <a:t>            _tree_sitter_available = True</a:t>
            </a:r>
            <a:br/>
            <a:r>
              <a:t>        except ImportError: ...</a:t>
            </a:r>
          </a:p>
          <a:p>
            <a:pPr algn="l">
              <a:spcBef>
                <a:spcPts val="0"/>
              </a:spcBef>
              <a:spcAft>
                <a:spcPts val="400"/>
              </a:spcAft>
              <a:defRPr sz="1300" b="0">
                <a:solidFill>
                  <a:srgbClr val="333333"/>
                </a:solidFill>
                <a:latin typeface="Microsoft YaHei"/>
              </a:defRPr>
            </a:pPr>
            <a:r>
              <a:t>该压缩器默认在 ContentRouter 中被禁用（enable_code_aware: bool = False），因为项目推荐使用代码图 MCP 工具代替。当启用时，代码内容会路由至此压缩器；若不可用则回退到 Kompress。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640080"/>
          </a:xfrm>
          <a:prstGeom prst="rect">
            <a:avLst/>
          </a:prstGeom>
          <a:noFill/>
        </p:spPr>
        <p:txBody>
          <a:bodyPr wrap="square">
            <a:spAutoFit/>
          </a:bodyPr>
          <a:lstStyle/>
          <a:p>
            <a:pPr algn="l">
              <a:defRPr sz="2200" b="1">
                <a:solidFill>
                  <a:srgbClr val="FFFFFF"/>
                </a:solidFill>
                <a:latin typeface="Microsoft YaHei"/>
              </a:defRPr>
            </a:pPr>
            <a:r>
              <a:t>三、KompressCompressor：ML 语义压缩器 — 图表</a:t>
            </a:r>
          </a:p>
        </p:txBody>
      </p:sp>
      <p:sp>
        <p:nvSpPr>
          <p:cNvPr id="4" name="Rectangle 3"/>
          <p:cNvSpPr/>
          <p:nvPr/>
        </p:nvSpPr>
        <p:spPr>
          <a:xfrm>
            <a:off x="457200" y="1097280"/>
            <a:ext cx="11277295" cy="5303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2743200" cy="365760"/>
          </a:xfrm>
          <a:prstGeom prst="rect">
            <a:avLst/>
          </a:prstGeom>
          <a:noFill/>
        </p:spPr>
        <p:txBody>
          <a:bodyPr wrap="square">
            <a:spAutoFit/>
          </a:bodyPr>
          <a:lstStyle/>
          <a:p>
            <a:pPr algn="l">
              <a:defRPr sz="1100" b="1">
                <a:solidFill>
                  <a:srgbClr val="1A5C8A"/>
                </a:solidFill>
                <a:latin typeface="Microsoft YaHei"/>
              </a:defRPr>
            </a:pPr>
            <a:r>
              <a:t>Mermaid 图表</a:t>
            </a:r>
          </a:p>
        </p:txBody>
      </p:sp>
      <p:sp>
        <p:nvSpPr>
          <p:cNvPr id="6" name="TextBox 5"/>
          <p:cNvSpPr txBox="1"/>
          <p:nvPr/>
        </p:nvSpPr>
        <p:spPr>
          <a:xfrm>
            <a:off x="731520" y="1645920"/>
            <a:ext cx="10728655" cy="4572000"/>
          </a:xfrm>
          <a:prstGeom prst="rect">
            <a:avLst/>
          </a:prstGeom>
          <a:noFill/>
        </p:spPr>
        <p:txBody>
          <a:bodyPr wrap="square">
            <a:spAutoFit/>
          </a:bodyPr>
          <a:lstStyle/>
          <a:p>
            <a:pPr>
              <a:spcBef>
                <a:spcPts val="0"/>
              </a:spcBef>
              <a:spcAft>
                <a:spcPts val="100"/>
              </a:spcAft>
              <a:defRPr sz="1000">
                <a:solidFill>
                  <a:srgbClr val="1A5C8A"/>
                </a:solidFill>
                <a:latin typeface="Consolas"/>
              </a:defRPr>
            </a:pPr>
            <a:r>
              <a:t>sequenceDiagram</a:t>
            </a:r>
          </a:p>
          <a:p>
            <a:pPr>
              <a:spcBef>
                <a:spcPts val="0"/>
              </a:spcBef>
              <a:spcAft>
                <a:spcPts val="100"/>
              </a:spcAft>
              <a:defRPr sz="1000">
                <a:solidFill>
                  <a:srgbClr val="1A5C8A"/>
                </a:solidFill>
                <a:latin typeface="Consolas"/>
              </a:defRPr>
            </a:pPr>
            <a:r>
              <a:t>    participant CR as ContentRouter</a:t>
            </a:r>
          </a:p>
          <a:p>
            <a:pPr>
              <a:spcBef>
                <a:spcPts val="0"/>
              </a:spcBef>
              <a:spcAft>
                <a:spcPts val="100"/>
              </a:spcAft>
              <a:defRPr sz="1000">
                <a:solidFill>
                  <a:srgbClr val="1A5C8A"/>
                </a:solidFill>
                <a:latin typeface="Consolas"/>
              </a:defRPr>
            </a:pPr>
            <a:r>
              <a:t>    participant TP as TagProtector</a:t>
            </a:r>
          </a:p>
          <a:p>
            <a:pPr>
              <a:spcBef>
                <a:spcPts val="0"/>
              </a:spcBef>
              <a:spcAft>
                <a:spcPts val="100"/>
              </a:spcAft>
              <a:defRPr sz="1000">
                <a:solidFill>
                  <a:srgbClr val="1A5C8A"/>
                </a:solidFill>
                <a:latin typeface="Consolas"/>
              </a:defRPr>
            </a:pPr>
            <a:r>
              <a:t>    participant KP as KompressCompressor</a:t>
            </a:r>
          </a:p>
          <a:p>
            <a:pPr>
              <a:spcBef>
                <a:spcPts val="0"/>
              </a:spcBef>
              <a:spcAft>
                <a:spcPts val="100"/>
              </a:spcAft>
              <a:defRPr sz="1000">
                <a:solidFill>
                  <a:srgbClr val="1A5C8A"/>
                </a:solidFill>
                <a:latin typeface="Consolas"/>
              </a:defRPr>
            </a:pPr>
            <a:r>
              <a:t>    participant HF as HuggingFace</a:t>
            </a:r>
          </a:p>
          <a:p>
            <a:pPr>
              <a:spcBef>
                <a:spcPts val="0"/>
              </a:spcBef>
              <a:spcAft>
                <a:spcPts val="100"/>
              </a:spcAft>
              <a:defRPr sz="1000">
                <a:solidFill>
                  <a:srgbClr val="1A5C8A"/>
                </a:solidFill>
                <a:latin typeface="Consolas"/>
              </a:defRPr>
            </a:pPr>
          </a:p>
          <a:p>
            <a:pPr>
              <a:spcBef>
                <a:spcPts val="0"/>
              </a:spcBef>
              <a:spcAft>
                <a:spcPts val="100"/>
              </a:spcAft>
              <a:defRPr sz="1000">
                <a:solidFill>
                  <a:srgbClr val="1A5C8A"/>
                </a:solidFill>
                <a:latin typeface="Consolas"/>
              </a:defRPr>
            </a:pPr>
            <a:r>
              <a:t>    CR-&gt;&gt;TP: protect_tags(content)</a:t>
            </a:r>
          </a:p>
          <a:p>
            <a:pPr>
              <a:spcBef>
                <a:spcPts val="0"/>
              </a:spcBef>
              <a:spcAft>
                <a:spcPts val="100"/>
              </a:spcAft>
              <a:defRPr sz="1000">
                <a:solidFill>
                  <a:srgbClr val="1A5C8A"/>
                </a:solidFill>
                <a:latin typeface="Consolas"/>
              </a:defRPr>
            </a:pPr>
            <a:r>
              <a:t>    TP--&gt;&gt;CR: (cleaned_text, protected_blocks)</a:t>
            </a:r>
          </a:p>
          <a:p>
            <a:pPr>
              <a:spcBef>
                <a:spcPts val="0"/>
              </a:spcBef>
              <a:spcAft>
                <a:spcPts val="100"/>
              </a:spcAft>
              <a:defRPr sz="1000">
                <a:solidFill>
                  <a:srgbClr val="1A5C8A"/>
                </a:solidFill>
                <a:latin typeface="Consolas"/>
              </a:defRPr>
            </a:pPr>
            <a:r>
              <a:t>    CR-&gt;&gt;KP: compress(cleaned_text, context, question)</a:t>
            </a:r>
          </a:p>
          <a:p>
            <a:pPr>
              <a:spcBef>
                <a:spcPts val="0"/>
              </a:spcBef>
              <a:spcAft>
                <a:spcPts val="100"/>
              </a:spcAft>
              <a:defRPr sz="1000">
                <a:solidFill>
                  <a:srgbClr val="1A5C8A"/>
                </a:solidFill>
                <a:latin typeface="Consolas"/>
              </a:defRPr>
            </a:pPr>
            <a:r>
              <a:t>    Note over KP: 首次调用时从HF下载模型</a:t>
            </a:r>
          </a:p>
          <a:p>
            <a:pPr>
              <a:spcBef>
                <a:spcPts val="0"/>
              </a:spcBef>
              <a:spcAft>
                <a:spcPts val="100"/>
              </a:spcAft>
              <a:defRPr sz="1000">
                <a:solidFill>
                  <a:srgbClr val="1A5C8A"/>
                </a:solidFill>
                <a:latin typeface="Consolas"/>
              </a:defRPr>
            </a:pPr>
            <a:r>
              <a:t>    KP-&gt;&gt;HF: 下载 kompress-base</a:t>
            </a:r>
          </a:p>
          <a:p>
            <a:pPr>
              <a:spcBef>
                <a:spcPts val="0"/>
              </a:spcBef>
              <a:spcAft>
                <a:spcPts val="100"/>
              </a:spcAft>
              <a:defRPr sz="1000">
                <a:solidFill>
                  <a:srgbClr val="1A5C8A"/>
                </a:solidFill>
                <a:latin typeface="Consolas"/>
              </a:defRPr>
            </a:pPr>
            <a:r>
              <a:t>    HF--&gt;&gt;KP: 模型权重</a:t>
            </a:r>
          </a:p>
          <a:p>
            <a:pPr>
              <a:spcBef>
                <a:spcPts val="0"/>
              </a:spcBef>
              <a:spcAft>
                <a:spcPts val="100"/>
              </a:spcAft>
              <a:defRPr sz="1000">
                <a:solidFill>
                  <a:srgbClr val="1A5C8A"/>
                </a:solidFill>
                <a:latin typeface="Consolas"/>
              </a:defRPr>
            </a:pPr>
            <a:r>
              <a:t>    KP--&gt;&gt;CR: KompressResult(compressed, compressed_tokens)</a:t>
            </a:r>
          </a:p>
          <a:p>
            <a:pPr>
              <a:spcBef>
                <a:spcPts val="0"/>
              </a:spcBef>
              <a:spcAft>
                <a:spcPts val="100"/>
              </a:spcAft>
              <a:defRPr sz="1000">
                <a:solidFill>
                  <a:srgbClr val="1A5C8A"/>
                </a:solidFill>
                <a:latin typeface="Consolas"/>
              </a:defRPr>
            </a:pPr>
            <a:r>
              <a:t>    CR-&gt;&gt;TP: restore_tags(compressed, protected_blocks)</a:t>
            </a:r>
          </a:p>
          <a:p>
            <a:pPr>
              <a:spcBef>
                <a:spcPts val="0"/>
              </a:spcBef>
              <a:spcAft>
                <a:spcPts val="100"/>
              </a:spcAft>
              <a:defRPr sz="1000">
                <a:solidFill>
                  <a:srgbClr val="1A5C8A"/>
                </a:solidFill>
                <a:latin typeface="Consolas"/>
              </a:defRPr>
            </a:pPr>
            <a:r>
              <a:t>    TP--&gt;&gt;CR: 最终压缩文本(标签已恢复)</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640080"/>
          </a:xfrm>
          <a:prstGeom prst="rect">
            <a:avLst/>
          </a:prstGeom>
          <a:noFill/>
        </p:spPr>
        <p:txBody>
          <a:bodyPr wrap="square">
            <a:spAutoFit/>
          </a:bodyPr>
          <a:lstStyle/>
          <a:p>
            <a:pPr algn="l">
              <a:defRPr sz="2200" b="1">
                <a:solidFill>
                  <a:srgbClr val="FFFFFF"/>
                </a:solidFill>
                <a:latin typeface="Microsoft YaHei"/>
              </a:defRPr>
            </a:pPr>
            <a:r>
              <a:t>三、KompressCompressor：ML 语义压缩器</a:t>
            </a:r>
          </a:p>
        </p:txBody>
      </p:sp>
      <p:sp>
        <p:nvSpPr>
          <p:cNvPr id="4" name="TextBox 3"/>
          <p:cNvSpPr txBox="1"/>
          <p:nvPr/>
        </p:nvSpPr>
        <p:spPr>
          <a:xfrm>
            <a:off x="731520" y="1188720"/>
            <a:ext cx="10728655" cy="5303520"/>
          </a:xfrm>
          <a:prstGeom prst="rect">
            <a:avLst/>
          </a:prstGeom>
          <a:noFill/>
        </p:spPr>
        <p:txBody>
          <a:bodyPr wrap="square">
            <a:spAutoFit/>
          </a:bodyPr>
          <a:lstStyle/>
          <a:p>
            <a:pPr algn="l">
              <a:spcBef>
                <a:spcPts val="0"/>
              </a:spcBef>
              <a:spcAft>
                <a:spcPts val="400"/>
              </a:spcAft>
              <a:defRPr sz="1300" b="0">
                <a:solidFill>
                  <a:srgbClr val="333333"/>
                </a:solidFill>
                <a:latin typeface="Microsoft YaHei"/>
              </a:defRPr>
            </a:pPr>
            <a:r>
              <a:t>kompress_compressor.py 是基于 ModernBERT 模型的 token 级语义压缩器，能理解文本语义并智能删除冗余 token。它是纯文本内容的默认压缩路径，也是其他压缩器失败时的回退选择。</a:t>
            </a:r>
          </a:p>
          <a:p>
            <a:pPr algn="l">
              <a:spcBef>
                <a:spcPts val="0"/>
              </a:spcBef>
              <a:spcAft>
                <a:spcPts val="400"/>
              </a:spcAft>
              <a:defRPr sz="1300" b="0">
                <a:solidFill>
                  <a:srgbClr val="333333"/>
                </a:solidFill>
                <a:latin typeface="Microsoft YaHei"/>
              </a:defRPr>
            </a:pPr>
            <a:r>
              <a:t>技术架构：</a:t>
            </a:r>
          </a:p>
          <a:p>
            <a:pPr algn="l">
              <a:spcBef>
                <a:spcPts val="0"/>
              </a:spcBef>
              <a:spcAft>
                <a:spcPts val="300"/>
              </a:spcAft>
              <a:defRPr sz="1300" b="0">
                <a:solidFill>
                  <a:srgbClr val="333333"/>
                </a:solidFill>
                <a:latin typeface="Microsoft YaHei"/>
              </a:defRPr>
            </a:pPr>
            <a:r>
              <a:t>• 模型：ModernBERT（从 HuggingFace chopratejas/kompress-base 自动下载）</a:t>
            </a:r>
          </a:p>
          <a:p>
            <a:pPr algn="l">
              <a:spcBef>
                <a:spcPts val="0"/>
              </a:spcBef>
              <a:spcAft>
                <a:spcPts val="300"/>
              </a:spcAft>
              <a:defRPr sz="1300" b="0">
                <a:solidFill>
                  <a:srgbClr val="333333"/>
                </a:solidFill>
                <a:latin typeface="Microsoft YaHei"/>
              </a:defRPr>
            </a:pPr>
            <a:r>
              <a:t>• 推理后端：支持 ONNX、PyTorch、CoreML 多后端自动选择</a:t>
            </a:r>
          </a:p>
          <a:p>
            <a:pPr algn="l">
              <a:spcBef>
                <a:spcPts val="0"/>
              </a:spcBef>
              <a:spcAft>
                <a:spcPts val="300"/>
              </a:spcAft>
              <a:defRPr sz="1300" b="0">
                <a:solidFill>
                  <a:srgbClr val="333333"/>
                </a:solidFill>
                <a:latin typeface="Microsoft YaHei"/>
              </a:defRPr>
            </a:pPr>
            <a:r>
              <a:t>• 并发控制：通过信号量限制并发推理数（HEADROOM_KOMPRESS_MAX_CONCURRENT）</a:t>
            </a:r>
          </a:p>
          <a:p>
            <a:pPr algn="l">
              <a:spcBef>
                <a:spcPts val="0"/>
              </a:spcBef>
              <a:spcAft>
                <a:spcPts val="300"/>
              </a:spcAft>
              <a:defRPr sz="1300" b="0">
                <a:solidFill>
                  <a:srgbClr val="333333"/>
                </a:solidFill>
                <a:latin typeface="Microsoft YaHei"/>
              </a:defRPr>
            </a:pPr>
            <a:r>
              <a:t>• 模型缓存：模块级缓存，同一模型 ID 只加载一次</a:t>
            </a:r>
          </a:p>
          <a:p>
            <a:pPr algn="l">
              <a:spcBef>
                <a:spcPts val="600"/>
              </a:spcBef>
              <a:spcAft>
                <a:spcPts val="200"/>
              </a:spcAft>
              <a:defRPr sz="1000" b="1">
                <a:solidFill>
                  <a:srgbClr val="2E86C1"/>
                </a:solidFill>
                <a:latin typeface="Microsoft YaHei"/>
              </a:defRPr>
            </a:pPr>
            <a:r>
              <a:t>代码 [python]:</a:t>
            </a:r>
          </a:p>
          <a:p>
            <a:pPr algn="l">
              <a:spcBef>
                <a:spcPts val="0"/>
              </a:spcBef>
              <a:spcAft>
                <a:spcPts val="400"/>
              </a:spcAft>
              <a:defRPr sz="900" b="0">
                <a:solidFill>
                  <a:srgbClr val="2C3E50"/>
                </a:solidFill>
                <a:latin typeface="Consolas"/>
              </a:defRPr>
            </a:pPr>
            <a:r>
              <a:t># kompress_compressor.py 后端选择</a:t>
            </a:r>
            <a:br/>
            <a:r>
              <a:t>KompressBackend = Literal["auto", "onnx", "onnx_cpu", "onnx_coreml", "pytorch", "pytorch_mps"]</a:t>
            </a:r>
            <a:br/>
            <a:br/>
            <a:r>
              <a:t># 模型缓存：model_id -&gt; (model, tokenizer, backend)</a:t>
            </a:r>
            <a:br/>
            <a:r>
              <a:t>_kompress_cache: dict[str, tuple[Any, Any, str]] = {}</a:t>
            </a:r>
            <a:br/>
            <a:r>
              <a:t>_kompress_lock = threading.Lock()</a:t>
            </a:r>
          </a:p>
          <a:p>
            <a:pPr algn="l">
              <a:spcBef>
                <a:spcPts val="0"/>
              </a:spcBef>
              <a:spcAft>
                <a:spcPts val="400"/>
              </a:spcAft>
              <a:defRPr sz="1300" b="0">
                <a:solidFill>
                  <a:srgbClr val="333333"/>
                </a:solidFill>
                <a:latin typeface="Microsoft YaHei"/>
              </a:defRPr>
            </a:pPr>
            <a:r>
              <a:t>Tag 保护机制：Kompress 在压缩前会调用 tag_protector.protect_tags() 保护自定义 XML 标签（如 、），压缩后再通过 restore_tags() 恢复，避免 ML 模型误删结构化标签。</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640080"/>
          </a:xfrm>
          <a:prstGeom prst="rect">
            <a:avLst/>
          </a:prstGeom>
          <a:noFill/>
        </p:spPr>
        <p:txBody>
          <a:bodyPr wrap="square">
            <a:spAutoFit/>
          </a:bodyPr>
          <a:lstStyle/>
          <a:p>
            <a:pPr algn="l">
              <a:defRPr sz="2200" b="1">
                <a:solidFill>
                  <a:srgbClr val="FFFFFF"/>
                </a:solidFill>
                <a:latin typeface="Microsoft YaHei"/>
              </a:defRPr>
            </a:pPr>
            <a:r>
              <a:t>四、DiffCompressor：Git Diff 压缩器</a:t>
            </a:r>
          </a:p>
        </p:txBody>
      </p:sp>
      <p:sp>
        <p:nvSpPr>
          <p:cNvPr id="4" name="TextBox 3"/>
          <p:cNvSpPr txBox="1"/>
          <p:nvPr/>
        </p:nvSpPr>
        <p:spPr>
          <a:xfrm>
            <a:off x="731520" y="1188720"/>
            <a:ext cx="10728655" cy="5303520"/>
          </a:xfrm>
          <a:prstGeom prst="rect">
            <a:avLst/>
          </a:prstGeom>
          <a:noFill/>
        </p:spPr>
        <p:txBody>
          <a:bodyPr wrap="square">
            <a:spAutoFit/>
          </a:bodyPr>
          <a:lstStyle/>
          <a:p>
            <a:pPr algn="l">
              <a:spcBef>
                <a:spcPts val="0"/>
              </a:spcBef>
              <a:spcAft>
                <a:spcPts val="400"/>
              </a:spcAft>
              <a:defRPr sz="1300" b="0">
                <a:solidFill>
                  <a:srgbClr val="333333"/>
                </a:solidFill>
                <a:latin typeface="Microsoft YaHei"/>
              </a:defRPr>
            </a:pPr>
            <a:r>
              <a:t>diff_compressor.py 已在 Stage 3b 完全迁移至 Rust 实现。它专门处理 unified diff 格式的输出，通过 hunk 级别的智能过滤实现压缩。</a:t>
            </a:r>
          </a:p>
          <a:p>
            <a:pPr algn="l">
              <a:spcBef>
                <a:spcPts val="0"/>
              </a:spcBef>
              <a:spcAft>
                <a:spcPts val="400"/>
              </a:spcAft>
              <a:defRPr sz="1300" b="0">
                <a:solidFill>
                  <a:srgbClr val="333333"/>
                </a:solidFill>
                <a:latin typeface="Microsoft YaHei"/>
              </a:defRPr>
            </a:pPr>
            <a:r>
              <a:t>压缩策略：</a:t>
            </a:r>
          </a:p>
          <a:p>
            <a:pPr algn="l">
              <a:spcBef>
                <a:spcPts val="0"/>
              </a:spcBef>
              <a:spcAft>
                <a:spcPts val="300"/>
              </a:spcAft>
              <a:defRPr sz="1300" b="0">
                <a:solidFill>
                  <a:srgbClr val="333333"/>
                </a:solidFill>
                <a:latin typeface="Microsoft YaHei"/>
              </a:defRPr>
            </a:pPr>
            <a:r>
              <a:t>  Diff 解析：将输入解析为文件→hunk 的层级结构</a:t>
            </a:r>
          </a:p>
          <a:p>
            <a:pPr algn="l">
              <a:spcBef>
                <a:spcPts val="0"/>
              </a:spcBef>
              <a:spcAft>
                <a:spcPts val="300"/>
              </a:spcAft>
              <a:defRPr sz="1300" b="0">
                <a:solidFill>
                  <a:srgbClr val="333333"/>
                </a:solidFill>
                <a:latin typeface="Microsoft YaHei"/>
              </a:defRPr>
            </a:pPr>
            <a:r>
              <a:t>  Hunk 过滤：基于 max_hunks_per_file（默认10）限制每个文件保留的 hunk 数</a:t>
            </a:r>
          </a:p>
          <a:p>
            <a:pPr algn="l">
              <a:spcBef>
                <a:spcPts val="0"/>
              </a:spcBef>
              <a:spcAft>
                <a:spcPts val="300"/>
              </a:spcAft>
              <a:defRPr sz="1300" b="0">
                <a:solidFill>
                  <a:srgbClr val="333333"/>
                </a:solidFill>
                <a:latin typeface="Microsoft YaHei"/>
              </a:defRPr>
            </a:pPr>
            <a:r>
              <a:t>  上下文裁剪：将每个 hunk 的上下文行从默认3行裁剪至 max_context_lines（默认2行）</a:t>
            </a:r>
          </a:p>
          <a:p>
            <a:pPr algn="l">
              <a:spcBef>
                <a:spcPts val="0"/>
              </a:spcBef>
              <a:spcAft>
                <a:spcPts val="300"/>
              </a:spcAft>
              <a:defRPr sz="1300" b="0">
                <a:solidFill>
                  <a:srgbClr val="333333"/>
                </a:solidFill>
                <a:latin typeface="Microsoft YaHei"/>
              </a:defRPr>
            </a:pPr>
            <a:r>
              <a:t>  文件级限制：超过 max_files（默认20）的文件直接丢弃</a:t>
            </a:r>
          </a:p>
          <a:p>
            <a:pPr algn="l">
              <a:spcBef>
                <a:spcPts val="0"/>
              </a:spcBef>
              <a:spcAft>
                <a:spcPts val="300"/>
              </a:spcAft>
              <a:defRPr sz="1300" b="0">
                <a:solidFill>
                  <a:srgbClr val="333333"/>
                </a:solidFill>
                <a:latin typeface="Microsoft YaHei"/>
              </a:defRPr>
            </a:pPr>
            <a:r>
              <a:t>  CCR 缓存：被丢弃的内容存入 CCR，可按需检索</a:t>
            </a:r>
          </a:p>
          <a:p>
            <a:pPr algn="l">
              <a:spcBef>
                <a:spcPts val="600"/>
              </a:spcBef>
              <a:spcAft>
                <a:spcPts val="200"/>
              </a:spcAft>
              <a:defRPr sz="1000" b="1">
                <a:solidFill>
                  <a:srgbClr val="2E86C1"/>
                </a:solidFill>
                <a:latin typeface="Microsoft YaHei"/>
              </a:defRPr>
            </a:pPr>
            <a:r>
              <a:t>代码 [python]:</a:t>
            </a:r>
          </a:p>
          <a:p>
            <a:pPr algn="l">
              <a:spcBef>
                <a:spcPts val="0"/>
              </a:spcBef>
              <a:spcAft>
                <a:spcPts val="400"/>
              </a:spcAft>
              <a:defRPr sz="900" b="0">
                <a:solidFill>
                  <a:srgbClr val="2C3E50"/>
                </a:solidFill>
                <a:latin typeface="Consolas"/>
              </a:defRPr>
            </a:pPr>
            <a:r>
              <a:t># diff_compressor.py 配置</a:t>
            </a:r>
            <a:br/>
            <a:r>
              <a:t>@dataclass</a:t>
            </a:r>
            <a:br/>
            <a:r>
              <a:t>class DiffCompressorConfig:</a:t>
            </a:r>
            <a:br/>
            <a:r>
              <a:t>    max_context_lines: int = 2       # 上下文行数</a:t>
            </a:r>
            <a:br/>
            <a:r>
              <a:t>    max_hunks_per_file: int = 10     # 每文件最大hunk数</a:t>
            </a:r>
            <a:br/>
            <a:r>
              <a:t>    max_files: int = 20              # 最大文件数</a:t>
            </a:r>
            <a:br/>
            <a:r>
              <a:t>    always_keep_additions: bool = True   # 始终保留新增行</a:t>
            </a:r>
            <a:br/>
            <a:r>
              <a:t>    always_keep_deletions: bool = True   # 始终保留删除行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640080"/>
          </a:xfrm>
          <a:prstGeom prst="rect">
            <a:avLst/>
          </a:prstGeom>
          <a:noFill/>
        </p:spPr>
        <p:txBody>
          <a:bodyPr wrap="square">
            <a:spAutoFit/>
          </a:bodyPr>
          <a:lstStyle/>
          <a:p>
            <a:pPr algn="l">
              <a:defRPr sz="2200" b="1">
                <a:solidFill>
                  <a:srgbClr val="FFFFFF"/>
                </a:solidFill>
                <a:latin typeface="Microsoft YaHei"/>
              </a:defRPr>
            </a:pPr>
            <a:r>
              <a:t>五、LogCompressor：日志压缩器</a:t>
            </a:r>
          </a:p>
        </p:txBody>
      </p:sp>
      <p:sp>
        <p:nvSpPr>
          <p:cNvPr id="4" name="TextBox 3"/>
          <p:cNvSpPr txBox="1"/>
          <p:nvPr/>
        </p:nvSpPr>
        <p:spPr>
          <a:xfrm>
            <a:off x="731520" y="1188720"/>
            <a:ext cx="10728655" cy="5303520"/>
          </a:xfrm>
          <a:prstGeom prst="rect">
            <a:avLst/>
          </a:prstGeom>
          <a:noFill/>
        </p:spPr>
        <p:txBody>
          <a:bodyPr wrap="square">
            <a:spAutoFit/>
          </a:bodyPr>
          <a:lstStyle/>
          <a:p>
            <a:pPr algn="l">
              <a:spcBef>
                <a:spcPts val="0"/>
              </a:spcBef>
              <a:spcAft>
                <a:spcPts val="400"/>
              </a:spcAft>
              <a:defRPr sz="1300" b="0">
                <a:solidFill>
                  <a:srgbClr val="333333"/>
                </a:solidFill>
                <a:latin typeface="Microsoft YaHei"/>
              </a:defRPr>
            </a:pPr>
            <a:r>
              <a:t>log_compressor.py 已在 Phase 3e.5 迁移至 Rust 实现。它针对构建/测试日志输出进行结构化压缩，保留关键错误信息，过滤冗余日志。</a:t>
            </a:r>
          </a:p>
          <a:p>
            <a:pPr algn="l">
              <a:spcBef>
                <a:spcPts val="0"/>
              </a:spcBef>
              <a:spcAft>
                <a:spcPts val="400"/>
              </a:spcAft>
              <a:defRPr sz="1300" b="0">
                <a:solidFill>
                  <a:srgbClr val="333333"/>
                </a:solidFill>
                <a:latin typeface="Microsoft YaHei"/>
              </a:defRPr>
            </a:pPr>
            <a:r>
              <a:t>核心特性：</a:t>
            </a:r>
          </a:p>
          <a:p>
            <a:pPr algn="l">
              <a:spcBef>
                <a:spcPts val="0"/>
              </a:spcBef>
              <a:spcAft>
                <a:spcPts val="300"/>
              </a:spcAft>
              <a:defRPr sz="1300" b="0">
                <a:solidFill>
                  <a:srgbClr val="333333"/>
                </a:solidFill>
                <a:latin typeface="Microsoft YaHei"/>
              </a:defRPr>
            </a:pPr>
            <a:r>
              <a:t>• 格式检测：自动识别 pytest、npm、cargo、make、jest、generic 等日志格式</a:t>
            </a:r>
          </a:p>
          <a:p>
            <a:pPr algn="l">
              <a:spcBef>
                <a:spcPts val="0"/>
              </a:spcBef>
              <a:spcAft>
                <a:spcPts val="300"/>
              </a:spcAft>
              <a:defRPr sz="1300" b="0">
                <a:solidFill>
                  <a:srgbClr val="333333"/>
                </a:solidFill>
                <a:latin typeface="Microsoft YaHei"/>
              </a:defRPr>
            </a:pPr>
            <a:r>
              <a:t>• 优先级策略：ERROR &gt; WARN &gt; INFO &gt; DEBUG，始终保留首个和末个错误</a:t>
            </a:r>
          </a:p>
          <a:p>
            <a:pPr algn="l">
              <a:spcBef>
                <a:spcPts val="0"/>
              </a:spcBef>
              <a:spcAft>
                <a:spcPts val="300"/>
              </a:spcAft>
              <a:defRPr sz="1300" b="0">
                <a:solidFill>
                  <a:srgbClr val="333333"/>
                </a:solidFill>
                <a:latin typeface="Microsoft YaHei"/>
              </a:defRPr>
            </a:pPr>
            <a:r>
              <a:t>• 堆栈跟踪保留：跨语言识别 Python/JS/Java 堆栈跟踪，保持完整性</a:t>
            </a:r>
          </a:p>
          <a:p>
            <a:pPr algn="l">
              <a:spcBef>
                <a:spcPts val="0"/>
              </a:spcBef>
              <a:spcAft>
                <a:spcPts val="300"/>
              </a:spcAft>
              <a:defRPr sz="1300" b="0">
                <a:solidFill>
                  <a:srgbClr val="333333"/>
                </a:solidFill>
                <a:latin typeface="Microsoft YaHei"/>
              </a:defRPr>
            </a:pPr>
            <a:r>
              <a:t>• 警告去重：保守去重策略——仅归一化尾部变量区域，保留消息标识符</a:t>
            </a:r>
          </a:p>
          <a:p>
            <a:pPr algn="l">
              <a:spcBef>
                <a:spcPts val="0"/>
              </a:spcBef>
              <a:spcAft>
                <a:spcPts val="300"/>
              </a:spcAft>
              <a:defRPr sz="1300" b="0">
                <a:solidFill>
                  <a:srgbClr val="333333"/>
                </a:solidFill>
                <a:latin typeface="Microsoft YaHei"/>
              </a:defRPr>
            </a:pPr>
            <a:r>
              <a:t>• 摘要行保留：如 PASSED、FAILED、SKIPPED 等测试摘要行</a:t>
            </a:r>
          </a:p>
          <a:p>
            <a:pPr algn="l">
              <a:spcBef>
                <a:spcPts val="0"/>
              </a:spcBef>
              <a:spcAft>
                <a:spcPts val="400"/>
              </a:spcAft>
              <a:defRPr sz="1300" b="0">
                <a:solidFill>
                  <a:srgbClr val="333333"/>
                </a:solidFill>
                <a:latin typeface="Microsoft YaHei"/>
              </a:defRPr>
            </a:pPr>
            <a:r>
              <a:t>Rust 移植修复的关键 Bug：</a:t>
            </a:r>
          </a:p>
          <a:p>
            <a:pPr algn="l">
              <a:spcBef>
                <a:spcPts val="0"/>
              </a:spcBef>
              <a:spcAft>
                <a:spcPts val="300"/>
              </a:spcAft>
              <a:defRPr sz="1300" b="0">
                <a:solidFill>
                  <a:srgbClr val="333333"/>
                </a:solidFill>
                <a:latin typeface="Microsoft YaHei"/>
              </a:defRPr>
            </a:pPr>
            <a:r>
              <a:t>  堆栈跟踪状态机：Python 版在空行处终止，丢失链式异常的后续跟踪；Rust 版按语言分派，Python traceback 内的空行不会中断跟踪</a:t>
            </a:r>
          </a:p>
          <a:p>
            <a:pPr algn="l">
              <a:spcBef>
                <a:spcPts val="0"/>
              </a:spcBef>
              <a:spcAft>
                <a:spcPts val="300"/>
              </a:spcAft>
              <a:defRPr sz="1300" b="0">
                <a:solidFill>
                  <a:srgbClr val="333333"/>
                </a:solidFill>
                <a:latin typeface="Microsoft YaHei"/>
              </a:defRPr>
            </a:pPr>
            <a:r>
              <a:t>  保守去重：Python 版全局归一化数字/路径/十六进制，导致不同错误类别被错误合并；Rust 版仅在 :/= 后的尾部区域归一化</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640080"/>
          </a:xfrm>
          <a:prstGeom prst="rect">
            <a:avLst/>
          </a:prstGeom>
          <a:noFill/>
        </p:spPr>
        <p:txBody>
          <a:bodyPr wrap="square">
            <a:spAutoFit/>
          </a:bodyPr>
          <a:lstStyle/>
          <a:p>
            <a:pPr algn="l">
              <a:defRPr sz="2200" b="1">
                <a:solidFill>
                  <a:srgbClr val="FFFFFF"/>
                </a:solidFill>
                <a:latin typeface="Microsoft YaHei"/>
              </a:defRPr>
            </a:pPr>
            <a:r>
              <a:t>六、SearchCompressor：搜索结果压缩器</a:t>
            </a:r>
          </a:p>
        </p:txBody>
      </p:sp>
      <p:sp>
        <p:nvSpPr>
          <p:cNvPr id="4" name="TextBox 3"/>
          <p:cNvSpPr txBox="1"/>
          <p:nvPr/>
        </p:nvSpPr>
        <p:spPr>
          <a:xfrm>
            <a:off x="731520" y="1188720"/>
            <a:ext cx="10728655" cy="5303520"/>
          </a:xfrm>
          <a:prstGeom prst="rect">
            <a:avLst/>
          </a:prstGeom>
          <a:noFill/>
        </p:spPr>
        <p:txBody>
          <a:bodyPr wrap="square">
            <a:spAutoFit/>
          </a:bodyPr>
          <a:lstStyle/>
          <a:p>
            <a:pPr algn="l">
              <a:spcBef>
                <a:spcPts val="0"/>
              </a:spcBef>
              <a:spcAft>
                <a:spcPts val="400"/>
              </a:spcAft>
              <a:defRPr sz="1300" b="0">
                <a:solidFill>
                  <a:srgbClr val="333333"/>
                </a:solidFill>
                <a:latin typeface="Microsoft YaHei"/>
              </a:defRPr>
            </a:pPr>
            <a:r>
              <a:t>search_compressor.py 已在 Phase 3e.2 迁移至 Rust 实现。它处理 grep/ripgrep 格式的搜索结果（file:line:content）。</a:t>
            </a:r>
          </a:p>
          <a:p>
            <a:pPr algn="l">
              <a:spcBef>
                <a:spcPts val="0"/>
              </a:spcBef>
              <a:spcAft>
                <a:spcPts val="400"/>
              </a:spcAft>
              <a:defRPr sz="1300" b="0">
                <a:solidFill>
                  <a:srgbClr val="333333"/>
                </a:solidFill>
                <a:latin typeface="Microsoft YaHei"/>
              </a:defRPr>
            </a:pPr>
            <a:r>
              <a:t>压缩流程：</a:t>
            </a:r>
          </a:p>
          <a:p>
            <a:pPr algn="l">
              <a:spcBef>
                <a:spcPts val="0"/>
              </a:spcBef>
              <a:spcAft>
                <a:spcPts val="300"/>
              </a:spcAft>
              <a:defRPr sz="1300" b="0">
                <a:solidFill>
                  <a:srgbClr val="333333"/>
                </a:solidFill>
                <a:latin typeface="Microsoft YaHei"/>
              </a:defRPr>
            </a:pPr>
            <a:r>
              <a:t>  行解析：将搜索结果按文件分组</a:t>
            </a:r>
          </a:p>
          <a:p>
            <a:pPr algn="l">
              <a:spcBef>
                <a:spcPts val="0"/>
              </a:spcBef>
              <a:spcAft>
                <a:spcPts val="300"/>
              </a:spcAft>
              <a:defRPr sz="1300" b="0">
                <a:solidFill>
                  <a:srgbClr val="333333"/>
                </a:solidFill>
                <a:latin typeface="Microsoft YaHei"/>
              </a:defRPr>
            </a:pPr>
            <a:r>
              <a:t>  优先级评分：基于 signals::LineImportanceDetector trait 对每行评分</a:t>
            </a:r>
          </a:p>
          <a:p>
            <a:pPr algn="l">
              <a:spcBef>
                <a:spcPts val="0"/>
              </a:spcBef>
              <a:spcAft>
                <a:spcPts val="300"/>
              </a:spcAft>
              <a:defRPr sz="1300" b="0">
                <a:solidFill>
                  <a:srgbClr val="333333"/>
                </a:solidFill>
                <a:latin typeface="Microsoft YaHei"/>
              </a:defRPr>
            </a:pPr>
            <a:r>
              <a:t>  匹配选择：每文件保留 max_matches_per_file（默认5）条，全局保留 max_total_matches（默认30）条</a:t>
            </a:r>
          </a:p>
          <a:p>
            <a:pPr algn="l">
              <a:spcBef>
                <a:spcPts val="0"/>
              </a:spcBef>
              <a:spcAft>
                <a:spcPts val="300"/>
              </a:spcAft>
              <a:defRPr sz="1300" b="0">
                <a:solidFill>
                  <a:srgbClr val="333333"/>
                </a:solidFill>
                <a:latin typeface="Microsoft YaHei"/>
              </a:defRPr>
            </a:pPr>
            <a:r>
              <a:t>  首尾保留：始终保留每个文件的首个和末个匹配</a:t>
            </a:r>
          </a:p>
          <a:p>
            <a:pPr algn="l">
              <a:spcBef>
                <a:spcPts val="0"/>
              </a:spcBef>
              <a:spcAft>
                <a:spcPts val="300"/>
              </a:spcAft>
              <a:defRPr sz="1300" b="0">
                <a:solidFill>
                  <a:srgbClr val="333333"/>
                </a:solidFill>
                <a:latin typeface="Microsoft YaHei"/>
              </a:defRPr>
            </a:pPr>
            <a:r>
              <a:t>  CCR 缓存：被丢弃的匹配行存入 CCR</a:t>
            </a:r>
          </a:p>
          <a:p>
            <a:pPr algn="l">
              <a:spcBef>
                <a:spcPts val="0"/>
              </a:spcBef>
              <a:spcAft>
                <a:spcPts val="400"/>
              </a:spcAft>
              <a:defRPr sz="1300" b="0">
                <a:solidFill>
                  <a:srgbClr val="333333"/>
                </a:solidFill>
                <a:latin typeface="Microsoft YaHei"/>
              </a:defRPr>
            </a:pPr>
            <a:r>
              <a:t>Rust 移植修复的关键 Bug：</a:t>
            </a:r>
          </a:p>
          <a:p>
            <a:pPr algn="l">
              <a:spcBef>
                <a:spcPts val="0"/>
              </a:spcBef>
              <a:spcAft>
                <a:spcPts val="300"/>
              </a:spcAft>
              <a:defRPr sz="1300" b="0">
                <a:solidFill>
                  <a:srgbClr val="333333"/>
                </a:solidFill>
                <a:latin typeface="Microsoft YaHei"/>
              </a:defRPr>
            </a:pPr>
            <a:r>
              <a:t>  Windows 路径：Python 版正则将驱动器号冒号（C:\Users\…）误认为行号分隔符</a:t>
            </a:r>
          </a:p>
          <a:p>
            <a:pPr algn="l">
              <a:spcBef>
                <a:spcPts val="0"/>
              </a:spcBef>
              <a:spcAft>
                <a:spcPts val="300"/>
              </a:spcAft>
              <a:defRPr sz="1300" b="0">
                <a:solidFill>
                  <a:srgbClr val="333333"/>
                </a:solidFill>
                <a:latin typeface="Microsoft YaHei"/>
              </a:defRPr>
            </a:pPr>
            <a:r>
              <a:t>  文件名中的连字符：Python 版排除路径中的 -，导致 pre-commit-config.yaml 等文件名解析错误</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640080"/>
          </a:xfrm>
          <a:prstGeom prst="rect">
            <a:avLst/>
          </a:prstGeom>
          <a:noFill/>
        </p:spPr>
        <p:txBody>
          <a:bodyPr wrap="square">
            <a:spAutoFit/>
          </a:bodyPr>
          <a:lstStyle/>
          <a:p>
            <a:pPr algn="l">
              <a:defRPr sz="2200" b="1">
                <a:solidFill>
                  <a:srgbClr val="FFFFFF"/>
                </a:solidFill>
                <a:latin typeface="Microsoft YaHei"/>
              </a:defRPr>
            </a:pPr>
            <a:r>
              <a:t>七、HTMLExtractor：HTML 内容提取器</a:t>
            </a:r>
          </a:p>
        </p:txBody>
      </p:sp>
      <p:sp>
        <p:nvSpPr>
          <p:cNvPr id="4" name="TextBox 3"/>
          <p:cNvSpPr txBox="1"/>
          <p:nvPr/>
        </p:nvSpPr>
        <p:spPr>
          <a:xfrm>
            <a:off x="731520" y="1188720"/>
            <a:ext cx="10728655" cy="5303520"/>
          </a:xfrm>
          <a:prstGeom prst="rect">
            <a:avLst/>
          </a:prstGeom>
          <a:noFill/>
        </p:spPr>
        <p:txBody>
          <a:bodyPr wrap="square">
            <a:spAutoFit/>
          </a:bodyPr>
          <a:lstStyle/>
          <a:p>
            <a:pPr algn="l">
              <a:spcBef>
                <a:spcPts val="0"/>
              </a:spcBef>
              <a:spcAft>
                <a:spcPts val="400"/>
              </a:spcAft>
              <a:defRPr sz="1300" b="0">
                <a:solidFill>
                  <a:srgbClr val="333333"/>
                </a:solidFill>
                <a:latin typeface="Microsoft YaHei"/>
              </a:defRPr>
            </a:pPr>
            <a:r>
              <a:t>html_extractor.py 与其他压缩器不同，它不是 token 级压缩，而是内容提取——从 HTML 页面中提取正文，移除脚本、样式、导航、广告等结构性噪声。</a:t>
            </a:r>
          </a:p>
          <a:p>
            <a:pPr algn="l">
              <a:spcBef>
                <a:spcPts val="0"/>
              </a:spcBef>
              <a:spcAft>
                <a:spcPts val="400"/>
              </a:spcAft>
              <a:defRPr sz="1300" b="0">
                <a:solidFill>
                  <a:srgbClr val="333333"/>
                </a:solidFill>
                <a:latin typeface="Microsoft YaHei"/>
              </a:defRPr>
            </a:pPr>
            <a:r>
              <a:t>技术实现：</a:t>
            </a:r>
          </a:p>
          <a:p>
            <a:pPr algn="l">
              <a:spcBef>
                <a:spcPts val="0"/>
              </a:spcBef>
              <a:spcAft>
                <a:spcPts val="300"/>
              </a:spcAft>
              <a:defRPr sz="1300" b="0">
                <a:solidFill>
                  <a:srgbClr val="333333"/>
                </a:solidFill>
                <a:latin typeface="Microsoft YaHei"/>
              </a:defRPr>
            </a:pPr>
            <a:r>
              <a:t>• 基于 trafilatura 库</a:t>
            </a:r>
          </a:p>
          <a:p>
            <a:pPr algn="l">
              <a:spcBef>
                <a:spcPts val="0"/>
              </a:spcBef>
              <a:spcAft>
                <a:spcPts val="300"/>
              </a:spcAft>
              <a:defRPr sz="1300" b="0">
                <a:solidFill>
                  <a:srgbClr val="333333"/>
                </a:solidFill>
                <a:latin typeface="Microsoft YaHei"/>
              </a:defRPr>
            </a:pPr>
            <a:r>
              <a:t>• 典型缩减率：70-90%，零内容损失</a:t>
            </a:r>
          </a:p>
          <a:p>
            <a:pPr algn="l">
              <a:spcBef>
                <a:spcPts val="0"/>
              </a:spcBef>
              <a:spcAft>
                <a:spcPts val="300"/>
              </a:spcAft>
              <a:defRPr sz="1300" b="0">
                <a:solidFill>
                  <a:srgbClr val="333333"/>
                </a:solidFill>
                <a:latin typeface="Microsoft YaHei"/>
              </a:defRPr>
            </a:pPr>
            <a:r>
              <a:t>• 输出格式：Markdown 或纯文本</a:t>
            </a:r>
          </a:p>
          <a:p>
            <a:pPr algn="l">
              <a:spcBef>
                <a:spcPts val="0"/>
              </a:spcBef>
              <a:spcAft>
                <a:spcPts val="300"/>
              </a:spcAft>
              <a:defRPr sz="1300" b="0">
                <a:solidFill>
                  <a:srgbClr val="333333"/>
                </a:solidFill>
                <a:latin typeface="Microsoft YaHei"/>
              </a:defRPr>
            </a:pPr>
            <a:r>
              <a:t>• 元数据提取：标题、作者、日期</a:t>
            </a:r>
          </a:p>
          <a:p>
            <a:pPr algn="l">
              <a:spcBef>
                <a:spcPts val="600"/>
              </a:spcBef>
              <a:spcAft>
                <a:spcPts val="200"/>
              </a:spcAft>
              <a:defRPr sz="1000" b="1">
                <a:solidFill>
                  <a:srgbClr val="2E86C1"/>
                </a:solidFill>
                <a:latin typeface="Microsoft YaHei"/>
              </a:defRPr>
            </a:pPr>
            <a:r>
              <a:t>代码 [python]:</a:t>
            </a:r>
          </a:p>
          <a:p>
            <a:pPr algn="l">
              <a:spcBef>
                <a:spcPts val="0"/>
              </a:spcBef>
              <a:spcAft>
                <a:spcPts val="400"/>
              </a:spcAft>
              <a:defRPr sz="900" b="0">
                <a:solidFill>
                  <a:srgbClr val="2C3E50"/>
                </a:solidFill>
                <a:latin typeface="Consolas"/>
              </a:defRPr>
            </a:pPr>
            <a:r>
              <a:t># html_extractor.py 配置</a:t>
            </a:r>
            <a:br/>
            <a:r>
              <a:t>@dataclass</a:t>
            </a:r>
            <a:br/>
            <a:r>
              <a:t>class HTMLExtractorConfig:</a:t>
            </a:r>
            <a:br/>
            <a:r>
              <a:t>    output_format: str = "markdown"   # 输出格式</a:t>
            </a:r>
            <a:br/>
            <a:r>
              <a:t>    include_links: bool = True        # 保留链接</a:t>
            </a:r>
            <a:br/>
            <a:r>
              <a:t>    include_images: bool = False      # 保留图片</a:t>
            </a:r>
            <a:br/>
            <a:r>
              <a:t>    include_tables: bool = True       # 保留表格</a:t>
            </a:r>
            <a:br/>
            <a:r>
              <a:t>    favor_precision: bool = False     # 精确模式（内容少但质量高）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640080"/>
          </a:xfrm>
          <a:prstGeom prst="rect">
            <a:avLst/>
          </a:prstGeom>
          <a:noFill/>
        </p:spPr>
        <p:txBody>
          <a:bodyPr wrap="square">
            <a:spAutoFit/>
          </a:bodyPr>
          <a:lstStyle/>
          <a:p>
            <a:pPr algn="l">
              <a:defRPr sz="2200" b="1">
                <a:solidFill>
                  <a:srgbClr val="FFFFFF"/>
                </a:solidFill>
                <a:latin typeface="Microsoft YaHei"/>
              </a:defRPr>
            </a:pPr>
            <a:r>
              <a:t>八、辅助模块</a:t>
            </a:r>
          </a:p>
        </p:txBody>
      </p:sp>
      <p:sp>
        <p:nvSpPr>
          <p:cNvPr id="4" name="TextBox 3"/>
          <p:cNvSpPr txBox="1"/>
          <p:nvPr/>
        </p:nvSpPr>
        <p:spPr>
          <a:xfrm>
            <a:off x="731520" y="1188720"/>
            <a:ext cx="10728655" cy="5303520"/>
          </a:xfrm>
          <a:prstGeom prst="rect">
            <a:avLst/>
          </a:prstGeom>
          <a:noFill/>
        </p:spPr>
        <p:txBody>
          <a:bodyPr wrap="square">
            <a:spAutoFit/>
          </a:bodyPr>
          <a:lstStyle/>
          <a:p>
            <a:pPr algn="l">
              <a:spcBef>
                <a:spcPts val="800"/>
              </a:spcBef>
              <a:spcAft>
                <a:spcPts val="300"/>
              </a:spcAft>
              <a:defRPr sz="1500" b="1">
                <a:solidFill>
                  <a:srgbClr val="2E86C1"/>
                </a:solidFill>
                <a:latin typeface="Microsoft YaHei"/>
              </a:defRPr>
            </a:pPr>
            <a:r>
              <a:t>AnchorSelector（锚点选择器）</a:t>
            </a:r>
          </a:p>
          <a:p>
            <a:pPr algn="l">
              <a:spcBef>
                <a:spcPts val="0"/>
              </a:spcBef>
              <a:spcAft>
                <a:spcPts val="400"/>
              </a:spcAft>
              <a:defRPr sz="1300" b="0">
                <a:solidFill>
                  <a:srgbClr val="333333"/>
                </a:solidFill>
                <a:latin typeface="Microsoft YaHei"/>
              </a:defRPr>
            </a:pPr>
            <a:r>
              <a:t>anchor_selector.py 为 SmartCrusher 提供动态锚点位置分配。它根据数据模式（搜索结果、日志、时间序列、通用）、查询关键词、信息密度和去重需求，智能决定保留哪些位置的数据项。</a:t>
            </a:r>
          </a:p>
          <a:p>
            <a:pPr algn="l">
              <a:spcBef>
                <a:spcPts val="800"/>
              </a:spcBef>
              <a:spcAft>
                <a:spcPts val="300"/>
              </a:spcAft>
              <a:defRPr sz="1500" b="1">
                <a:solidFill>
                  <a:srgbClr val="2E86C1"/>
                </a:solidFill>
                <a:latin typeface="Microsoft YaHei"/>
              </a:defRPr>
            </a:pPr>
            <a:r>
              <a:t>CompressionUnits（压缩单元）</a:t>
            </a:r>
          </a:p>
          <a:p>
            <a:pPr algn="l">
              <a:spcBef>
                <a:spcPts val="0"/>
              </a:spcBef>
              <a:spcAft>
                <a:spcPts val="400"/>
              </a:spcAft>
              <a:defRPr sz="1300" b="0">
                <a:solidFill>
                  <a:srgbClr val="333333"/>
                </a:solidFill>
                <a:latin typeface="Microsoft YaHei"/>
              </a:defRPr>
            </a:pPr>
            <a:r>
              <a:t>compression_units.py 定义了 CompressionUnit 数据类，作为 Provider 适配器与 ContentRouter 之间的标准化接口。每个压缩单元包含文本内容、Provider 信息、端点、角色、缓存区域等元数据，并记录压缩决策的原因分类。</a:t>
            </a:r>
          </a:p>
          <a:p>
            <a:pPr algn="l">
              <a:spcBef>
                <a:spcPts val="800"/>
              </a:spcBef>
              <a:spcAft>
                <a:spcPts val="300"/>
              </a:spcAft>
              <a:defRPr sz="1500" b="1">
                <a:solidFill>
                  <a:srgbClr val="2E86C1"/>
                </a:solidFill>
                <a:latin typeface="Microsoft YaHei"/>
              </a:defRPr>
            </a:pPr>
            <a:r>
              <a:t>CompressionSummary（压缩摘要）</a:t>
            </a:r>
          </a:p>
          <a:p>
            <a:pPr algn="l">
              <a:spcBef>
                <a:spcPts val="0"/>
              </a:spcBef>
              <a:spcAft>
                <a:spcPts val="400"/>
              </a:spcAft>
              <a:defRPr sz="1300" b="0">
                <a:solidFill>
                  <a:srgbClr val="333333"/>
                </a:solidFill>
                <a:latin typeface="Microsoft YaHei"/>
              </a:defRPr>
            </a:pPr>
            <a:r>
              <a:t>compression_summary.py 生成被丢弃内容的分类摘要，帮助 LLM 判断是否需要通过 CCR 检索原始数据。例如："[480 items omitted: 150 log entries (3 with errors), 200 test results (12 failures)]"。</a:t>
            </a:r>
          </a:p>
          <a:p>
            <a:pPr algn="l">
              <a:spcBef>
                <a:spcPts val="0"/>
              </a:spcBef>
              <a:spcAft>
                <a:spcPts val="400"/>
              </a:spcAft>
              <a:defRPr sz="1300" b="0">
                <a:solidFill>
                  <a:srgbClr val="333333"/>
                </a:solidFill>
                <a:latin typeface="Microsoft YaHei"/>
              </a:defRPr>
            </a:pPr>
            <a: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640080"/>
          </a:xfrm>
          <a:prstGeom prst="rect">
            <a:avLst/>
          </a:prstGeom>
          <a:noFill/>
        </p:spPr>
        <p:txBody>
          <a:bodyPr wrap="square">
            <a:spAutoFit/>
          </a:bodyPr>
          <a:lstStyle/>
          <a:p>
            <a:pPr algn="l">
              <a:defRPr sz="2200" b="1">
                <a:solidFill>
                  <a:srgbClr val="FFFFFF"/>
                </a:solidFill>
                <a:latin typeface="Microsoft YaHei"/>
              </a:defRPr>
            </a:pPr>
            <a:r>
              <a:t>总——协作与总结</a:t>
            </a:r>
          </a:p>
        </p:txBody>
      </p:sp>
      <p:sp>
        <p:nvSpPr>
          <p:cNvPr id="4" name="TextBox 3"/>
          <p:cNvSpPr txBox="1"/>
          <p:nvPr/>
        </p:nvSpPr>
        <p:spPr>
          <a:xfrm>
            <a:off x="731520" y="1188720"/>
            <a:ext cx="10728655" cy="5303520"/>
          </a:xfrm>
          <a:prstGeom prst="rect">
            <a:avLst/>
          </a:prstGeom>
          <a:noFill/>
        </p:spPr>
        <p:txBody>
          <a:bodyPr wrap="square">
            <a:spAutoFit/>
          </a:bodyPr>
          <a:lstStyle/>
          <a:p>
            <a:pPr algn="l">
              <a:spcBef>
                <a:spcPts val="0"/>
              </a:spcBef>
              <a:spcAft>
                <a:spcPts val="400"/>
              </a:spcAft>
              <a:defRPr sz="1300" b="0">
                <a:solidFill>
                  <a:srgbClr val="333333"/>
                </a:solidFill>
                <a:latin typeface="Microsoft YaHei"/>
              </a:defRPr>
            </a:pPr>
            <a:r>
              <a:t>Headroom 的压缩算法体系是一个精心设计的多策略协作系统。各压缩器不是孤立运行的，而是通过 ContentRouter 的路由机制和回退链紧密协作：</a:t>
            </a:r>
          </a:p>
          <a:p>
            <a:pPr algn="l">
              <a:spcBef>
                <a:spcPts val="0"/>
              </a:spcBef>
              <a:spcAft>
                <a:spcPts val="300"/>
              </a:spcAft>
              <a:defRPr sz="1300" b="0">
                <a:solidFill>
                  <a:srgbClr val="333333"/>
                </a:solidFill>
                <a:latin typeface="Microsoft YaHei"/>
              </a:defRPr>
            </a:pPr>
            <a:r>
              <a:t>  智能路由：ContentRouter 根据内容类型自动选择最优压缩器</a:t>
            </a:r>
          </a:p>
          <a:p>
            <a:pPr algn="l">
              <a:spcBef>
                <a:spcPts val="0"/>
              </a:spcBef>
              <a:spcAft>
                <a:spcPts val="300"/>
              </a:spcAft>
              <a:defRPr sz="1300" b="0">
                <a:solidFill>
                  <a:srgbClr val="333333"/>
                </a:solidFill>
                <a:latin typeface="Microsoft YaHei"/>
              </a:defRPr>
            </a:pPr>
            <a:r>
              <a:t>  回退链：SmartCrusher → Kompress → LogCompressor 的三级回退确保总能尝试压缩</a:t>
            </a:r>
          </a:p>
          <a:p>
            <a:pPr algn="l">
              <a:spcBef>
                <a:spcPts val="0"/>
              </a:spcBef>
              <a:spcAft>
                <a:spcPts val="300"/>
              </a:spcAft>
              <a:defRPr sz="1300" b="0">
                <a:solidFill>
                  <a:srgbClr val="333333"/>
                </a:solidFill>
                <a:latin typeface="Microsoft YaHei"/>
              </a:defRPr>
            </a:pPr>
            <a:r>
              <a:t>  CCR 统一：所有有损压缩器共享 CCR 机制，保证可逆性</a:t>
            </a:r>
          </a:p>
          <a:p>
            <a:pPr algn="l">
              <a:spcBef>
                <a:spcPts val="0"/>
              </a:spcBef>
              <a:spcAft>
                <a:spcPts val="300"/>
              </a:spcAft>
              <a:defRPr sz="1300" b="0">
                <a:solidFill>
                  <a:srgbClr val="333333"/>
                </a:solidFill>
                <a:latin typeface="Microsoft YaHei"/>
              </a:defRPr>
            </a:pPr>
            <a:r>
              <a:t>  Tag 保护：Kompress 压缩前统一保护自定义 XML 标签</a:t>
            </a:r>
          </a:p>
          <a:p>
            <a:pPr algn="l">
              <a:spcBef>
                <a:spcPts val="0"/>
              </a:spcBef>
              <a:spcAft>
                <a:spcPts val="300"/>
              </a:spcAft>
              <a:defRPr sz="1300" b="0">
                <a:solidFill>
                  <a:srgbClr val="333333"/>
                </a:solidFill>
                <a:latin typeface="Microsoft YaHei"/>
              </a:defRPr>
            </a:pPr>
            <a:r>
              <a:t>  TOIN 学习：压缩结果反馈至 TOIN 系统，持续优化压缩策略</a:t>
            </a:r>
          </a:p>
          <a:p>
            <a:pPr algn="l">
              <a:spcBef>
                <a:spcPts val="0"/>
              </a:spcBef>
              <a:spcAft>
                <a:spcPts val="400"/>
              </a:spcAft>
              <a:defRPr sz="1300" b="0">
                <a:solidFill>
                  <a:srgbClr val="333333"/>
                </a:solidFill>
                <a:latin typeface="Microsoft YaHei"/>
              </a:defRPr>
            </a:pPr>
            <a:r>
              <a:t>总结：Headroom 的压缩算法体系体现了"内容感知、渐进降级、可逆压缩"三大设计原则。每种压缩器都针对特定内容类型进行了深度优化，而 ContentRouter 的智能路由和回退链确保了系统在任意输入下都能做出最佳压缩决策。Rust 移植进一步提升了性能，同时修复了 Python 实现中的多个解析 Bug，使整个压缩子系统在生产环境中更加可靠。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